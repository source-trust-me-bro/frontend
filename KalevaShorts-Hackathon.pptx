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KalevaShorts is a multilingual newsroom for communities local media reaches least. The deck follows the three systems: the frontend people touch, the backend that serves it, and the agentic newsroom that does the reporting work. Everything published has a named human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media does not fail because there is no news. It fails because the news is not in the language people read, and because newcomers and seasonal workers are not in the room when stories are chosen. The product starts from those three groups: newcomers in Oulu, seasonal workers, and North Sámi speakers.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is one loop: collect real reporting, cluster the same news into one event, explain it, translate it, put it through a human gate, and publish per channel. Agents do the routine work; people make every publication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talks only to the FastAPI backend. FastAPI verifies the Clerk bearer token, enforces roles, and whether the call is a reader, editor or admin request. The backend talks server-to-server to the agentic newsroom with an API key the browser never sees. Published stories sync back into the reader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has two jobs: earn attention in public and disappear in the newsroom. The landing page is the brand surface. The dashboard, editor and community pages use the same tokens. Clerk handles sign-in, but every page and action re-checks the role on the server. The language switch changes the edition, not the 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surface we redesigned for the editor. A flat list of topics became a tree with a trunk, nested branches, event counts and link chips. The hover state shows the connected topics; clicking a link jumps to the other node. The counts in this screenshot come from the live agentic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deliberately boring: typed routes, Clerk verification, repositories, one collection per language, and deterministic indexes. The interesting part is related news: it scores candidates by the event tree first, then meaning, then popularity and freshness, and returns the reason for every item.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agentic newsroom copies a real newsroom's roles. The monitor watches feeds, the architect clusters the same news into events, the editor pitches, the investigator gathers evidence, the explainer writes, the translator drafts, and standards checks risk. Then the graph stops at a checkpointed human gate. A distributor will not publish without the approvals the policy requires.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line we do not cross. Agents can collect, cluster and draft; they cannot approve. Every approval is a named person with a role. High-risk stories need more roles. Corrections are public. Kaleva is metadata-only because it is paywalled, and official sources are labelled.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story exists in all seven app languages: English, Finnish, Swedish, Arabic, Davvisámegiella, Ukrainian and Russian. The counts here are live: 46 real Oulu stories from the last seven days, 322 editions, 45 events. The point is not a demo translation; it is the same story switchable mid-read.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is end to end. A reader can switch language and see the same story in another edition. An editor sees the topic tree, source health, the review queue and named approvals. A community member can follow a community or official source, send a tip, question or correction, and see a trusted voice review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promise: local news that reaches everyone. The three systems are ready to demo: the frontend surfaces, the backend contracts, and the agentic newsroom tree. Ask for a story and a language.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411"/>
        </a:solidFill>
        <a:effectLst/>
      </p:bgPr>
    </p:bg>
    <p:spTree>
      <p:nvGrpSpPr>
        <p:cNvPr id="1" name=""/>
        <p:cNvGrpSpPr/>
        <p:nvPr/>
      </p:nvGrpSpPr>
      <p:grpSpPr/>
      <p:sp>
        <p:nvSpPr>
          <p:cNvPr id="2" name="TextBox 1"/>
          <p:cNvSpPr txBox="1"/>
          <p:nvPr/>
        </p:nvSpPr>
        <p:spPr>
          <a:xfrm>
            <a:off x="685800" y="502920"/>
            <a:ext cx="256032" cy="256032"/>
          </a:xfrm>
          <a:prstGeom prst="rect">
            <a:avLst/>
          </a:prstGeom>
          <a:noFill/>
        </p:spPr>
        <p:txBody>
          <a:bodyPr wrap="square" lIns="0" rIns="0" tIns="0" bIns="0" anchor="t">
            <a:spAutoFit/>
          </a:bodyPr>
          <a:lstStyle/>
          <a:p>
            <a:pPr algn="l">
              <a:lnSpc>
                <a:spcPct val="105000"/>
              </a:lnSpc>
            </a:pPr>
            <a:r>
              <a:rPr sz="2000" b="0" i="0">
                <a:solidFill>
                  <a:srgbClr val="33CC7A"/>
                </a:solidFill>
                <a:latin typeface="Arial"/>
              </a:rPr>
              <a:t>●</a:t>
            </a:r>
          </a:p>
        </p:txBody>
      </p:sp>
      <p:sp>
        <p:nvSpPr>
          <p:cNvPr id="3" name="TextBox 2"/>
          <p:cNvSpPr txBox="1"/>
          <p:nvPr/>
        </p:nvSpPr>
        <p:spPr>
          <a:xfrm>
            <a:off x="960120" y="502920"/>
            <a:ext cx="4572000" cy="274320"/>
          </a:xfrm>
          <a:prstGeom prst="rect">
            <a:avLst/>
          </a:prstGeom>
          <a:noFill/>
        </p:spPr>
        <p:txBody>
          <a:bodyPr wrap="square" lIns="0" rIns="0" tIns="0" bIns="0" anchor="t">
            <a:spAutoFit/>
          </a:bodyPr>
          <a:lstStyle/>
          <a:p>
            <a:pPr algn="l">
              <a:lnSpc>
                <a:spcPct val="105000"/>
              </a:lnSpc>
            </a:pPr>
            <a:r>
              <a:rPr sz="1600" b="1" i="0">
                <a:solidFill>
                  <a:srgbClr val="FAF5F0"/>
                </a:solidFill>
                <a:latin typeface="Arial"/>
              </a:rPr>
              <a:t>KalevaShorts</a:t>
            </a:r>
          </a:p>
        </p:txBody>
      </p:sp>
      <p:sp>
        <p:nvSpPr>
          <p:cNvPr id="4" name="TextBox 3"/>
          <p:cNvSpPr txBox="1"/>
          <p:nvPr/>
        </p:nvSpPr>
        <p:spPr>
          <a:xfrm>
            <a:off x="7498079" y="521207"/>
            <a:ext cx="4023360" cy="274320"/>
          </a:xfrm>
          <a:prstGeom prst="rect">
            <a:avLst/>
          </a:prstGeom>
          <a:noFill/>
        </p:spPr>
        <p:txBody>
          <a:bodyPr wrap="square" lIns="0" rIns="0" tIns="0" bIns="0" anchor="t">
            <a:spAutoFit/>
          </a:bodyPr>
          <a:lstStyle/>
          <a:p>
            <a:pPr algn="r">
              <a:lnSpc>
                <a:spcPct val="105000"/>
              </a:lnSpc>
            </a:pPr>
            <a:r>
              <a:rPr sz="850" b="0" i="0">
                <a:solidFill>
                  <a:srgbClr val="B8ABA3"/>
                </a:solidFill>
                <a:latin typeface="Arial"/>
              </a:rPr>
              <a:t>KALEVA MEDIA HACKATHON  ·  OULU  ·  2026</a:t>
            </a:r>
          </a:p>
        </p:txBody>
      </p:sp>
      <p:sp>
        <p:nvSpPr>
          <p:cNvPr id="5" name="TextBox 4"/>
          <p:cNvSpPr txBox="1"/>
          <p:nvPr/>
        </p:nvSpPr>
        <p:spPr>
          <a:xfrm>
            <a:off x="685800" y="1325880"/>
            <a:ext cx="7863840" cy="2880360"/>
          </a:xfrm>
          <a:prstGeom prst="rect">
            <a:avLst/>
          </a:prstGeom>
          <a:noFill/>
        </p:spPr>
        <p:txBody>
          <a:bodyPr wrap="square" lIns="0" rIns="0" tIns="0" bIns="0" anchor="t">
            <a:spAutoFit/>
          </a:bodyPr>
          <a:lstStyle/>
          <a:p>
            <a:pPr algn="l">
              <a:lnSpc>
                <a:spcPct val="98000"/>
              </a:lnSpc>
            </a:pPr>
            <a:r>
              <a:rPr sz="5300" b="1" i="0">
                <a:solidFill>
                  <a:srgbClr val="FAF5F0"/>
                </a:solidFill>
                <a:latin typeface="Arial"/>
              </a:rPr>
              <a:t>The newsroom
that speaks
your language.</a:t>
            </a:r>
          </a:p>
        </p:txBody>
      </p:sp>
      <p:sp>
        <p:nvSpPr>
          <p:cNvPr id="6" name="TextBox 5"/>
          <p:cNvSpPr txBox="1"/>
          <p:nvPr/>
        </p:nvSpPr>
        <p:spPr>
          <a:xfrm>
            <a:off x="685800" y="4160520"/>
            <a:ext cx="6675120" cy="1280160"/>
          </a:xfrm>
          <a:prstGeom prst="rect">
            <a:avLst/>
          </a:prstGeom>
          <a:noFill/>
        </p:spPr>
        <p:txBody>
          <a:bodyPr wrap="square" lIns="0" rIns="0" tIns="0" bIns="0" anchor="t">
            <a:spAutoFit/>
          </a:bodyPr>
          <a:lstStyle/>
          <a:p>
            <a:pPr algn="l">
              <a:lnSpc>
                <a:spcPct val="140000"/>
              </a:lnSpc>
            </a:pPr>
            <a:r>
              <a:rPr sz="1500" b="0" i="0">
                <a:solidFill>
                  <a:srgbClr val="D8CEC6"/>
                </a:solidFill>
                <a:latin typeface="Arial"/>
              </a:rPr>
              <a:t>A multilingual, agent-run newsroom for the people local media reaches least. Built in Oulu, with a named human behind every published story.</a:t>
            </a:r>
          </a:p>
        </p:txBody>
      </p:sp>
      <p:sp>
        <p:nvSpPr>
          <p:cNvPr id="7" name="Rectangle 6"/>
          <p:cNvSpPr/>
          <p:nvPr/>
        </p:nvSpPr>
        <p:spPr>
          <a:xfrm>
            <a:off x="685800" y="5779008"/>
            <a:ext cx="4480560" cy="18288"/>
          </a:xfrm>
          <a:prstGeom prst="rect">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925312"/>
            <a:ext cx="7132320" cy="274320"/>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FRONTEND   /   BACKEND   /   AGENTIC NEWSROOM</a:t>
            </a:r>
          </a:p>
        </p:txBody>
      </p:sp>
      <p:sp>
        <p:nvSpPr>
          <p:cNvPr id="9" name="TextBox 8"/>
          <p:cNvSpPr txBox="1"/>
          <p:nvPr/>
        </p:nvSpPr>
        <p:spPr>
          <a:xfrm>
            <a:off x="8275320" y="1417320"/>
            <a:ext cx="3154680" cy="274320"/>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SEVEN LANGUAGES</a:t>
            </a:r>
          </a:p>
        </p:txBody>
      </p:sp>
      <p:sp>
        <p:nvSpPr>
          <p:cNvPr id="10" name="TextBox 9"/>
          <p:cNvSpPr txBox="1"/>
          <p:nvPr/>
        </p:nvSpPr>
        <p:spPr>
          <a:xfrm>
            <a:off x="8275320" y="1810512"/>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English</a:t>
            </a:r>
          </a:p>
        </p:txBody>
      </p:sp>
      <p:sp>
        <p:nvSpPr>
          <p:cNvPr id="11" name="TextBox 10"/>
          <p:cNvSpPr txBox="1"/>
          <p:nvPr/>
        </p:nvSpPr>
        <p:spPr>
          <a:xfrm>
            <a:off x="8275320" y="2194560"/>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Suomi</a:t>
            </a:r>
          </a:p>
        </p:txBody>
      </p:sp>
      <p:sp>
        <p:nvSpPr>
          <p:cNvPr id="12" name="TextBox 11"/>
          <p:cNvSpPr txBox="1"/>
          <p:nvPr/>
        </p:nvSpPr>
        <p:spPr>
          <a:xfrm>
            <a:off x="8275320" y="2578608"/>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Svenska</a:t>
            </a:r>
          </a:p>
        </p:txBody>
      </p:sp>
      <p:sp>
        <p:nvSpPr>
          <p:cNvPr id="13" name="TextBox 12"/>
          <p:cNvSpPr txBox="1"/>
          <p:nvPr/>
        </p:nvSpPr>
        <p:spPr>
          <a:xfrm>
            <a:off x="8275320" y="2962656"/>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العربية</a:t>
            </a:r>
          </a:p>
        </p:txBody>
      </p:sp>
      <p:sp>
        <p:nvSpPr>
          <p:cNvPr id="14" name="TextBox 13"/>
          <p:cNvSpPr txBox="1"/>
          <p:nvPr/>
        </p:nvSpPr>
        <p:spPr>
          <a:xfrm>
            <a:off x="8275320" y="3346704"/>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Davvisámegiella</a:t>
            </a:r>
          </a:p>
        </p:txBody>
      </p:sp>
      <p:sp>
        <p:nvSpPr>
          <p:cNvPr id="15" name="TextBox 14"/>
          <p:cNvSpPr txBox="1"/>
          <p:nvPr/>
        </p:nvSpPr>
        <p:spPr>
          <a:xfrm>
            <a:off x="8275320" y="3730752"/>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Українська</a:t>
            </a:r>
          </a:p>
        </p:txBody>
      </p:sp>
      <p:sp>
        <p:nvSpPr>
          <p:cNvPr id="16" name="TextBox 15"/>
          <p:cNvSpPr txBox="1"/>
          <p:nvPr/>
        </p:nvSpPr>
        <p:spPr>
          <a:xfrm>
            <a:off x="8275320" y="4114800"/>
            <a:ext cx="3200400" cy="292608"/>
          </a:xfrm>
          <a:prstGeom prst="rect">
            <a:avLst/>
          </a:prstGeom>
          <a:noFill/>
        </p:spPr>
        <p:txBody>
          <a:bodyPr wrap="square" lIns="0" rIns="0" tIns="0" bIns="0" anchor="t">
            <a:spAutoFit/>
          </a:bodyPr>
          <a:lstStyle/>
          <a:p>
            <a:pPr algn="l">
              <a:lnSpc>
                <a:spcPct val="105000"/>
              </a:lnSpc>
            </a:pPr>
            <a:r>
              <a:rPr sz="1300" b="0" i="0">
                <a:solidFill>
                  <a:srgbClr val="D8CEC6"/>
                </a:solidFill>
                <a:latin typeface="Arial"/>
              </a:rPr>
              <a:t>Русский</a:t>
            </a:r>
          </a:p>
        </p:txBody>
      </p:sp>
      <p:sp>
        <p:nvSpPr>
          <p:cNvPr id="17" name="Rectangle 16"/>
          <p:cNvSpPr/>
          <p:nvPr/>
        </p:nvSpPr>
        <p:spPr>
          <a:xfrm>
            <a:off x="8001000" y="1417320"/>
            <a:ext cx="10972" cy="356616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F0"/>
        </a:solidFill>
        <a:effectLst/>
      </p:bgPr>
    </p:bg>
    <p:spTree>
      <p:nvGrpSpPr>
        <p:cNvPr id="1" name=""/>
        <p:cNvGrpSpPr/>
        <p:nvPr/>
      </p:nvGrpSpPr>
      <p:grpSpPr/>
      <p:sp>
        <p:nvSpPr>
          <p:cNvPr id="2" name="TextBox 1"/>
          <p:cNvSpPr txBox="1"/>
          <p:nvPr/>
        </p:nvSpPr>
        <p:spPr>
          <a:xfrm>
            <a:off x="685800" y="502920"/>
            <a:ext cx="45720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THE GAP</a:t>
            </a:r>
          </a:p>
        </p:txBody>
      </p:sp>
      <p:sp>
        <p:nvSpPr>
          <p:cNvPr id="3" name="TextBox 2"/>
          <p:cNvSpPr txBox="1"/>
          <p:nvPr/>
        </p:nvSpPr>
        <p:spPr>
          <a:xfrm>
            <a:off x="685800" y="841248"/>
            <a:ext cx="9966960" cy="1417320"/>
          </a:xfrm>
          <a:prstGeom prst="rect">
            <a:avLst/>
          </a:prstGeom>
          <a:noFill/>
        </p:spPr>
        <p:txBody>
          <a:bodyPr wrap="square" lIns="0" rIns="0" tIns="0" bIns="0" anchor="t">
            <a:spAutoFit/>
          </a:bodyPr>
          <a:lstStyle/>
          <a:p>
            <a:pPr algn="l">
              <a:lnSpc>
                <a:spcPct val="100000"/>
              </a:lnSpc>
            </a:pPr>
            <a:r>
              <a:rPr sz="4000" b="1" i="0">
                <a:solidFill>
                  <a:srgbClr val="1B1411"/>
                </a:solidFill>
                <a:latin typeface="Arial"/>
              </a:rPr>
              <a:t>Local news misses the people
who need it most.</a:t>
            </a:r>
          </a:p>
        </p:txBody>
      </p:sp>
      <p:sp>
        <p:nvSpPr>
          <p:cNvPr id="4" name="Rectangle 3"/>
          <p:cNvSpPr/>
          <p:nvPr/>
        </p:nvSpPr>
        <p:spPr>
          <a:xfrm>
            <a:off x="685800" y="2423160"/>
            <a:ext cx="713232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551176"/>
            <a:ext cx="548640" cy="274320"/>
          </a:xfrm>
          <a:prstGeom prst="rect">
            <a:avLst/>
          </a:prstGeom>
          <a:noFill/>
        </p:spPr>
        <p:txBody>
          <a:bodyPr wrap="square" lIns="0" rIns="0" tIns="0" bIns="0" anchor="t">
            <a:spAutoFit/>
          </a:bodyPr>
          <a:lstStyle/>
          <a:p>
            <a:pPr algn="l">
              <a:lnSpc>
                <a:spcPct val="105000"/>
              </a:lnSpc>
            </a:pPr>
            <a:r>
              <a:rPr sz="1000" b="1" i="0">
                <a:solidFill>
                  <a:srgbClr val="33CC7A"/>
                </a:solidFill>
                <a:latin typeface="Arial"/>
              </a:rPr>
              <a:t>01</a:t>
            </a:r>
          </a:p>
        </p:txBody>
      </p:sp>
      <p:sp>
        <p:nvSpPr>
          <p:cNvPr id="6" name="TextBox 5"/>
          <p:cNvSpPr txBox="1"/>
          <p:nvPr/>
        </p:nvSpPr>
        <p:spPr>
          <a:xfrm>
            <a:off x="1234440" y="2532888"/>
            <a:ext cx="3108960" cy="320040"/>
          </a:xfrm>
          <a:prstGeom prst="rect">
            <a:avLst/>
          </a:prstGeom>
          <a:noFill/>
        </p:spPr>
        <p:txBody>
          <a:bodyPr wrap="square" lIns="0" rIns="0" tIns="0" bIns="0" anchor="t">
            <a:spAutoFit/>
          </a:bodyPr>
          <a:lstStyle/>
          <a:p>
            <a:pPr algn="l">
              <a:lnSpc>
                <a:spcPct val="105000"/>
              </a:lnSpc>
            </a:pPr>
            <a:r>
              <a:rPr sz="1600" b="1" i="0">
                <a:solidFill>
                  <a:srgbClr val="1B1411"/>
                </a:solidFill>
                <a:latin typeface="Arial"/>
              </a:rPr>
              <a:t>Newcomers in Oulu</a:t>
            </a:r>
          </a:p>
        </p:txBody>
      </p:sp>
      <p:sp>
        <p:nvSpPr>
          <p:cNvPr id="7" name="TextBox 6"/>
          <p:cNvSpPr txBox="1"/>
          <p:nvPr/>
        </p:nvSpPr>
        <p:spPr>
          <a:xfrm>
            <a:off x="1234440" y="2862072"/>
            <a:ext cx="6492240" cy="411480"/>
          </a:xfrm>
          <a:prstGeom prst="rect">
            <a:avLst/>
          </a:prstGeom>
          <a:noFill/>
        </p:spPr>
        <p:txBody>
          <a:bodyPr wrap="square" lIns="0" rIns="0" tIns="0" bIns="0" anchor="t">
            <a:spAutoFit/>
          </a:bodyPr>
          <a:lstStyle/>
          <a:p>
            <a:pPr algn="l">
              <a:lnSpc>
                <a:spcPct val="125000"/>
              </a:lnSpc>
            </a:pPr>
            <a:r>
              <a:rPr sz="1150" b="0" i="0">
                <a:solidFill>
                  <a:srgbClr val="66574F"/>
                </a:solidFill>
                <a:latin typeface="Arial"/>
              </a:rPr>
              <a:t>Permits, work, housing and language, explained in the language they read.</a:t>
            </a:r>
          </a:p>
        </p:txBody>
      </p:sp>
      <p:sp>
        <p:nvSpPr>
          <p:cNvPr id="8" name="Rectangle 7"/>
          <p:cNvSpPr/>
          <p:nvPr/>
        </p:nvSpPr>
        <p:spPr>
          <a:xfrm>
            <a:off x="685800" y="3410712"/>
            <a:ext cx="713232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538728"/>
            <a:ext cx="548640" cy="274320"/>
          </a:xfrm>
          <a:prstGeom prst="rect">
            <a:avLst/>
          </a:prstGeom>
          <a:noFill/>
        </p:spPr>
        <p:txBody>
          <a:bodyPr wrap="square" lIns="0" rIns="0" tIns="0" bIns="0" anchor="t">
            <a:spAutoFit/>
          </a:bodyPr>
          <a:lstStyle/>
          <a:p>
            <a:pPr algn="l">
              <a:lnSpc>
                <a:spcPct val="105000"/>
              </a:lnSpc>
            </a:pPr>
            <a:r>
              <a:rPr sz="1000" b="1" i="0">
                <a:solidFill>
                  <a:srgbClr val="33CC7A"/>
                </a:solidFill>
                <a:latin typeface="Arial"/>
              </a:rPr>
              <a:t>02</a:t>
            </a:r>
          </a:p>
        </p:txBody>
      </p:sp>
      <p:sp>
        <p:nvSpPr>
          <p:cNvPr id="10" name="TextBox 9"/>
          <p:cNvSpPr txBox="1"/>
          <p:nvPr/>
        </p:nvSpPr>
        <p:spPr>
          <a:xfrm>
            <a:off x="1234440" y="3520440"/>
            <a:ext cx="3108960" cy="320040"/>
          </a:xfrm>
          <a:prstGeom prst="rect">
            <a:avLst/>
          </a:prstGeom>
          <a:noFill/>
        </p:spPr>
        <p:txBody>
          <a:bodyPr wrap="square" lIns="0" rIns="0" tIns="0" bIns="0" anchor="t">
            <a:spAutoFit/>
          </a:bodyPr>
          <a:lstStyle/>
          <a:p>
            <a:pPr algn="l">
              <a:lnSpc>
                <a:spcPct val="105000"/>
              </a:lnSpc>
            </a:pPr>
            <a:r>
              <a:rPr sz="1600" b="1" i="0">
                <a:solidFill>
                  <a:srgbClr val="1B1411"/>
                </a:solidFill>
                <a:latin typeface="Arial"/>
              </a:rPr>
              <a:t>Seasonal workers</a:t>
            </a:r>
          </a:p>
        </p:txBody>
      </p:sp>
      <p:sp>
        <p:nvSpPr>
          <p:cNvPr id="11" name="TextBox 10"/>
          <p:cNvSpPr txBox="1"/>
          <p:nvPr/>
        </p:nvSpPr>
        <p:spPr>
          <a:xfrm>
            <a:off x="1234440" y="3849624"/>
            <a:ext cx="6492240" cy="411480"/>
          </a:xfrm>
          <a:prstGeom prst="rect">
            <a:avLst/>
          </a:prstGeom>
          <a:noFill/>
        </p:spPr>
        <p:txBody>
          <a:bodyPr wrap="square" lIns="0" rIns="0" tIns="0" bIns="0" anchor="t">
            <a:spAutoFit/>
          </a:bodyPr>
          <a:lstStyle/>
          <a:p>
            <a:pPr algn="l">
              <a:lnSpc>
                <a:spcPct val="125000"/>
              </a:lnSpc>
            </a:pPr>
            <a:r>
              <a:rPr sz="1150" b="0" i="0">
                <a:solidFill>
                  <a:srgbClr val="66574F"/>
                </a:solidFill>
                <a:latin typeface="Arial"/>
              </a:rPr>
              <a:t>Contracts, staff housing and winter safety, without a translation delay.</a:t>
            </a:r>
          </a:p>
        </p:txBody>
      </p:sp>
      <p:sp>
        <p:nvSpPr>
          <p:cNvPr id="12" name="Rectangle 11"/>
          <p:cNvSpPr/>
          <p:nvPr/>
        </p:nvSpPr>
        <p:spPr>
          <a:xfrm>
            <a:off x="685800" y="4398264"/>
            <a:ext cx="713232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526280"/>
            <a:ext cx="548640" cy="274320"/>
          </a:xfrm>
          <a:prstGeom prst="rect">
            <a:avLst/>
          </a:prstGeom>
          <a:noFill/>
        </p:spPr>
        <p:txBody>
          <a:bodyPr wrap="square" lIns="0" rIns="0" tIns="0" bIns="0" anchor="t">
            <a:spAutoFit/>
          </a:bodyPr>
          <a:lstStyle/>
          <a:p>
            <a:pPr algn="l">
              <a:lnSpc>
                <a:spcPct val="105000"/>
              </a:lnSpc>
            </a:pPr>
            <a:r>
              <a:rPr sz="1000" b="1" i="0">
                <a:solidFill>
                  <a:srgbClr val="33CC7A"/>
                </a:solidFill>
                <a:latin typeface="Arial"/>
              </a:rPr>
              <a:t>03</a:t>
            </a:r>
          </a:p>
        </p:txBody>
      </p:sp>
      <p:sp>
        <p:nvSpPr>
          <p:cNvPr id="14" name="TextBox 13"/>
          <p:cNvSpPr txBox="1"/>
          <p:nvPr/>
        </p:nvSpPr>
        <p:spPr>
          <a:xfrm>
            <a:off x="1234440" y="4507992"/>
            <a:ext cx="3108960" cy="320040"/>
          </a:xfrm>
          <a:prstGeom prst="rect">
            <a:avLst/>
          </a:prstGeom>
          <a:noFill/>
        </p:spPr>
        <p:txBody>
          <a:bodyPr wrap="square" lIns="0" rIns="0" tIns="0" bIns="0" anchor="t">
            <a:spAutoFit/>
          </a:bodyPr>
          <a:lstStyle/>
          <a:p>
            <a:pPr algn="l">
              <a:lnSpc>
                <a:spcPct val="105000"/>
              </a:lnSpc>
            </a:pPr>
            <a:r>
              <a:rPr sz="1600" b="1" i="0">
                <a:solidFill>
                  <a:srgbClr val="1B1411"/>
                </a:solidFill>
                <a:latin typeface="Arial"/>
              </a:rPr>
              <a:t>North Sámi speakers</a:t>
            </a:r>
          </a:p>
        </p:txBody>
      </p:sp>
      <p:sp>
        <p:nvSpPr>
          <p:cNvPr id="15" name="TextBox 14"/>
          <p:cNvSpPr txBox="1"/>
          <p:nvPr/>
        </p:nvSpPr>
        <p:spPr>
          <a:xfrm>
            <a:off x="1234440" y="4837176"/>
            <a:ext cx="6492240" cy="411480"/>
          </a:xfrm>
          <a:prstGeom prst="rect">
            <a:avLst/>
          </a:prstGeom>
          <a:noFill/>
        </p:spPr>
        <p:txBody>
          <a:bodyPr wrap="square" lIns="0" rIns="0" tIns="0" bIns="0" anchor="t">
            <a:spAutoFit/>
          </a:bodyPr>
          <a:lstStyle/>
          <a:p>
            <a:pPr algn="l">
              <a:lnSpc>
                <a:spcPct val="125000"/>
              </a:lnSpc>
            </a:pPr>
            <a:r>
              <a:rPr sz="1150" b="0" i="0">
                <a:solidFill>
                  <a:srgbClr val="66574F"/>
                </a:solidFill>
                <a:latin typeface="Arial"/>
              </a:rPr>
              <a:t>News in Davvisámegiella, reviewed by a person, not machine text.</a:t>
            </a:r>
          </a:p>
        </p:txBody>
      </p:sp>
      <p:sp>
        <p:nvSpPr>
          <p:cNvPr id="16" name="TextBox 15"/>
          <p:cNvSpPr txBox="1"/>
          <p:nvPr/>
        </p:nvSpPr>
        <p:spPr>
          <a:xfrm>
            <a:off x="8732520" y="2331720"/>
            <a:ext cx="2560320" cy="274320"/>
          </a:xfrm>
          <a:prstGeom prst="rect">
            <a:avLst/>
          </a:prstGeom>
          <a:noFill/>
        </p:spPr>
        <p:txBody>
          <a:bodyPr wrap="square" lIns="0" rIns="0" tIns="0" bIns="0" anchor="t">
            <a:spAutoFit/>
          </a:bodyPr>
          <a:lstStyle/>
          <a:p>
            <a:pPr algn="l">
              <a:lnSpc>
                <a:spcPct val="105000"/>
              </a:lnSpc>
            </a:pPr>
            <a:r>
              <a:rPr sz="850" b="1" i="0">
                <a:solidFill>
                  <a:srgbClr val="66574F"/>
                </a:solidFill>
                <a:latin typeface="Arial"/>
              </a:rPr>
              <a:t>IN THE PRODUCT</a:t>
            </a:r>
          </a:p>
        </p:txBody>
      </p:sp>
      <p:sp>
        <p:nvSpPr>
          <p:cNvPr id="17" name="TextBox 16"/>
          <p:cNvSpPr txBox="1"/>
          <p:nvPr/>
        </p:nvSpPr>
        <p:spPr>
          <a:xfrm>
            <a:off x="8732520" y="2651760"/>
            <a:ext cx="2468880" cy="1280160"/>
          </a:xfrm>
          <a:prstGeom prst="rect">
            <a:avLst/>
          </a:prstGeom>
          <a:noFill/>
        </p:spPr>
        <p:txBody>
          <a:bodyPr wrap="square" lIns="0" rIns="0" tIns="0" bIns="0" anchor="t">
            <a:spAutoFit/>
          </a:bodyPr>
          <a:lstStyle/>
          <a:p>
            <a:pPr algn="l">
              <a:lnSpc>
                <a:spcPct val="80000"/>
              </a:lnSpc>
            </a:pPr>
            <a:r>
              <a:rPr sz="9200" b="1" i="0">
                <a:solidFill>
                  <a:srgbClr val="33CC7A"/>
                </a:solidFill>
                <a:latin typeface="Arial"/>
              </a:rPr>
              <a:t>7</a:t>
            </a:r>
          </a:p>
        </p:txBody>
      </p:sp>
      <p:sp>
        <p:nvSpPr>
          <p:cNvPr id="18" name="TextBox 17"/>
          <p:cNvSpPr txBox="1"/>
          <p:nvPr/>
        </p:nvSpPr>
        <p:spPr>
          <a:xfrm>
            <a:off x="8915400" y="3840480"/>
            <a:ext cx="2468880" cy="274320"/>
          </a:xfrm>
          <a:prstGeom prst="rect">
            <a:avLst/>
          </a:prstGeom>
          <a:noFill/>
        </p:spPr>
        <p:txBody>
          <a:bodyPr wrap="square" lIns="0" rIns="0" tIns="0" bIns="0" anchor="t">
            <a:spAutoFit/>
          </a:bodyPr>
          <a:lstStyle/>
          <a:p>
            <a:pPr algn="l">
              <a:lnSpc>
                <a:spcPct val="105000"/>
              </a:lnSpc>
            </a:pPr>
            <a:r>
              <a:rPr sz="1200" b="1" i="0">
                <a:solidFill>
                  <a:srgbClr val="1B1411"/>
                </a:solidFill>
                <a:latin typeface="Arial"/>
              </a:rPr>
              <a:t>languages, every story</a:t>
            </a:r>
          </a:p>
        </p:txBody>
      </p:sp>
      <p:sp>
        <p:nvSpPr>
          <p:cNvPr id="19" name="Rectangle 18"/>
          <p:cNvSpPr/>
          <p:nvPr/>
        </p:nvSpPr>
        <p:spPr>
          <a:xfrm>
            <a:off x="8732520" y="4251960"/>
            <a:ext cx="219456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4389120"/>
            <a:ext cx="2468880" cy="274320"/>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10 communities</a:t>
            </a:r>
          </a:p>
        </p:txBody>
      </p:sp>
      <p:sp>
        <p:nvSpPr>
          <p:cNvPr id="21" name="TextBox 20"/>
          <p:cNvSpPr txBox="1"/>
          <p:nvPr/>
        </p:nvSpPr>
        <p:spPr>
          <a:xfrm>
            <a:off x="8732520" y="4736592"/>
            <a:ext cx="2468880" cy="274320"/>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22 topics, 11 links</a:t>
            </a:r>
          </a:p>
        </p:txBody>
      </p:sp>
      <p:sp>
        <p:nvSpPr>
          <p:cNvPr id="22" name="TextBox 21"/>
          <p:cNvSpPr txBox="1"/>
          <p:nvPr/>
        </p:nvSpPr>
        <p:spPr>
          <a:xfrm>
            <a:off x="8732520" y="5413248"/>
            <a:ext cx="2651760" cy="548640"/>
          </a:xfrm>
          <a:prstGeom prst="rect">
            <a:avLst/>
          </a:prstGeom>
          <a:noFill/>
        </p:spPr>
        <p:txBody>
          <a:bodyPr wrap="square" lIns="0" rIns="0" tIns="0" bIns="0" anchor="t">
            <a:spAutoFit/>
          </a:bodyPr>
          <a:lstStyle/>
          <a:p>
            <a:pPr algn="l">
              <a:lnSpc>
                <a:spcPct val="130000"/>
              </a:lnSpc>
            </a:pPr>
            <a:r>
              <a:rPr sz="1100" b="0" i="0">
                <a:solidFill>
                  <a:srgbClr val="66574F"/>
                </a:solidFill>
                <a:latin typeface="Arial"/>
              </a:rPr>
              <a:t>The news exists. The language
and the trust are missing.</a:t>
            </a:r>
          </a:p>
        </p:txBody>
      </p:sp>
      <p:sp>
        <p:nvSpPr>
          <p:cNvPr id="23" name="Rectangle 22"/>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the gap</a:t>
            </a:r>
          </a:p>
        </p:txBody>
      </p:sp>
      <p:sp>
        <p:nvSpPr>
          <p:cNvPr id="25" name="TextBox 24"/>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411"/>
        </a:solidFill>
        <a:effectLst/>
      </p:bgPr>
    </p:bg>
    <p:spTree>
      <p:nvGrpSpPr>
        <p:cNvPr id="1" name=""/>
        <p:cNvGrpSpPr/>
        <p:nvPr/>
      </p:nvGrpSpPr>
      <p:grpSpPr/>
      <p:sp>
        <p:nvSpPr>
          <p:cNvPr id="2" name="TextBox 1"/>
          <p:cNvSpPr txBox="1"/>
          <p:nvPr/>
        </p:nvSpPr>
        <p:spPr>
          <a:xfrm>
            <a:off x="685800" y="502920"/>
            <a:ext cx="54864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WHAT WE BUILT</a:t>
            </a:r>
          </a:p>
        </p:txBody>
      </p:sp>
      <p:sp>
        <p:nvSpPr>
          <p:cNvPr id="3" name="TextBox 2"/>
          <p:cNvSpPr txBox="1"/>
          <p:nvPr/>
        </p:nvSpPr>
        <p:spPr>
          <a:xfrm>
            <a:off x="685800" y="868680"/>
            <a:ext cx="10881360" cy="1143000"/>
          </a:xfrm>
          <a:prstGeom prst="rect">
            <a:avLst/>
          </a:prstGeom>
          <a:noFill/>
        </p:spPr>
        <p:txBody>
          <a:bodyPr wrap="square" lIns="0" rIns="0" tIns="0" bIns="0" anchor="t">
            <a:spAutoFit/>
          </a:bodyPr>
          <a:lstStyle/>
          <a:p>
            <a:pPr algn="l">
              <a:lnSpc>
                <a:spcPct val="105000"/>
              </a:lnSpc>
            </a:pPr>
            <a:r>
              <a:rPr sz="4000" b="1" i="0">
                <a:solidFill>
                  <a:srgbClr val="FAF5F0"/>
                </a:solidFill>
                <a:latin typeface="Arial"/>
              </a:rPr>
              <a:t>One story. Seven languages.
One accountable newsroom.</a:t>
            </a:r>
          </a:p>
        </p:txBody>
      </p:sp>
      <p:sp>
        <p:nvSpPr>
          <p:cNvPr id="4" name="Rounded Rectangle 3"/>
          <p:cNvSpPr/>
          <p:nvPr/>
        </p:nvSpPr>
        <p:spPr>
          <a:xfrm>
            <a:off x="685800"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01  Collect</a:t>
            </a:r>
          </a:p>
        </p:txBody>
      </p:sp>
      <p:sp>
        <p:nvSpPr>
          <p:cNvPr id="5" name="TextBox 4"/>
          <p:cNvSpPr txBox="1"/>
          <p:nvPr/>
        </p:nvSpPr>
        <p:spPr>
          <a:xfrm>
            <a:off x="685800"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feeds + officials</a:t>
            </a:r>
          </a:p>
        </p:txBody>
      </p:sp>
      <p:sp>
        <p:nvSpPr>
          <p:cNvPr id="6" name="Right Arrow 5"/>
          <p:cNvSpPr/>
          <p:nvPr/>
        </p:nvSpPr>
        <p:spPr>
          <a:xfrm>
            <a:off x="2350008" y="2816352"/>
            <a:ext cx="182880"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24328"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02  Cluster</a:t>
            </a:r>
          </a:p>
        </p:txBody>
      </p:sp>
      <p:sp>
        <p:nvSpPr>
          <p:cNvPr id="8" name="TextBox 7"/>
          <p:cNvSpPr txBox="1"/>
          <p:nvPr/>
        </p:nvSpPr>
        <p:spPr>
          <a:xfrm>
            <a:off x="2624328"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same news → one event</a:t>
            </a:r>
          </a:p>
        </p:txBody>
      </p:sp>
      <p:sp>
        <p:nvSpPr>
          <p:cNvPr id="9" name="Right Arrow 8"/>
          <p:cNvSpPr/>
          <p:nvPr/>
        </p:nvSpPr>
        <p:spPr>
          <a:xfrm>
            <a:off x="4288536" y="2816352"/>
            <a:ext cx="182880"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62856"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03  Explain</a:t>
            </a:r>
          </a:p>
        </p:txBody>
      </p:sp>
      <p:sp>
        <p:nvSpPr>
          <p:cNvPr id="11" name="TextBox 10"/>
          <p:cNvSpPr txBox="1"/>
          <p:nvPr/>
        </p:nvSpPr>
        <p:spPr>
          <a:xfrm>
            <a:off x="4562856"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what happened + what it means</a:t>
            </a:r>
          </a:p>
        </p:txBody>
      </p:sp>
      <p:sp>
        <p:nvSpPr>
          <p:cNvPr id="12" name="Right Arrow 11"/>
          <p:cNvSpPr/>
          <p:nvPr/>
        </p:nvSpPr>
        <p:spPr>
          <a:xfrm>
            <a:off x="6227064" y="2816352"/>
            <a:ext cx="182880"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01384"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04  Translate</a:t>
            </a:r>
          </a:p>
        </p:txBody>
      </p:sp>
      <p:sp>
        <p:nvSpPr>
          <p:cNvPr id="14" name="TextBox 13"/>
          <p:cNvSpPr txBox="1"/>
          <p:nvPr/>
        </p:nvSpPr>
        <p:spPr>
          <a:xfrm>
            <a:off x="6501384"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all seven languages</a:t>
            </a:r>
          </a:p>
        </p:txBody>
      </p:sp>
      <p:sp>
        <p:nvSpPr>
          <p:cNvPr id="15" name="Right Arrow 14"/>
          <p:cNvSpPr/>
          <p:nvPr/>
        </p:nvSpPr>
        <p:spPr>
          <a:xfrm>
            <a:off x="8165592" y="2816352"/>
            <a:ext cx="182880"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39912"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05  Review</a:t>
            </a:r>
          </a:p>
        </p:txBody>
      </p:sp>
      <p:sp>
        <p:nvSpPr>
          <p:cNvPr id="17" name="TextBox 16"/>
          <p:cNvSpPr txBox="1"/>
          <p:nvPr/>
        </p:nvSpPr>
        <p:spPr>
          <a:xfrm>
            <a:off x="8439912"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named humans by role</a:t>
            </a:r>
          </a:p>
        </p:txBody>
      </p:sp>
      <p:sp>
        <p:nvSpPr>
          <p:cNvPr id="18" name="Right Arrow 17"/>
          <p:cNvSpPr/>
          <p:nvPr/>
        </p:nvSpPr>
        <p:spPr>
          <a:xfrm>
            <a:off x="10104119" y="2816352"/>
            <a:ext cx="182880"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78440" y="2606040"/>
            <a:ext cx="1627632" cy="658368"/>
          </a:xfrm>
          <a:prstGeom prst="roundRect">
            <a:avLst>
              <a:gd name="adj" fmla="val 8000"/>
            </a:avLst>
          </a:prstGeom>
          <a:solidFill>
            <a:srgbClr val="1F3954"/>
          </a:solidFill>
          <a:ln w="9525">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FAF5F0"/>
                </a:solidFill>
                <a:latin typeface="Arial"/>
              </a:rPr>
              <a:t>06  Publish</a:t>
            </a:r>
          </a:p>
        </p:txBody>
      </p:sp>
      <p:sp>
        <p:nvSpPr>
          <p:cNvPr id="20" name="TextBox 19"/>
          <p:cNvSpPr txBox="1"/>
          <p:nvPr/>
        </p:nvSpPr>
        <p:spPr>
          <a:xfrm>
            <a:off x="10378440" y="3364992"/>
            <a:ext cx="1627632" cy="384048"/>
          </a:xfrm>
          <a:prstGeom prst="rect">
            <a:avLst/>
          </a:prstGeom>
          <a:noFill/>
        </p:spPr>
        <p:txBody>
          <a:bodyPr wrap="square" lIns="0" rIns="0" tIns="0" bIns="0" anchor="t">
            <a:spAutoFit/>
          </a:bodyPr>
          <a:lstStyle/>
          <a:p>
            <a:pPr algn="l">
              <a:lnSpc>
                <a:spcPct val="115000"/>
              </a:lnSpc>
            </a:pPr>
            <a:r>
              <a:rPr sz="819" b="0" i="0">
                <a:solidFill>
                  <a:srgbClr val="B8ABA3"/>
                </a:solidFill>
                <a:latin typeface="Arial"/>
              </a:rPr>
              <a:t>dashboard + community</a:t>
            </a:r>
          </a:p>
        </p:txBody>
      </p:sp>
      <p:sp>
        <p:nvSpPr>
          <p:cNvPr id="21" name="Rectangle 20"/>
          <p:cNvSpPr/>
          <p:nvPr/>
        </p:nvSpPr>
        <p:spPr>
          <a:xfrm>
            <a:off x="685800" y="4160520"/>
            <a:ext cx="10835640"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34840"/>
            <a:ext cx="3108960" cy="292608"/>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AGENTS DO THE WORK</a:t>
            </a:r>
          </a:p>
        </p:txBody>
      </p:sp>
      <p:sp>
        <p:nvSpPr>
          <p:cNvPr id="23" name="TextBox 22"/>
          <p:cNvSpPr txBox="1"/>
          <p:nvPr/>
        </p:nvSpPr>
        <p:spPr>
          <a:xfrm>
            <a:off x="685800" y="4736592"/>
            <a:ext cx="3200400" cy="685800"/>
          </a:xfrm>
          <a:prstGeom prst="rect">
            <a:avLst/>
          </a:prstGeom>
          <a:noFill/>
        </p:spPr>
        <p:txBody>
          <a:bodyPr wrap="square" lIns="0" rIns="0" tIns="0" bIns="0" anchor="t">
            <a:spAutoFit/>
          </a:bodyPr>
          <a:lstStyle/>
          <a:p>
            <a:pPr algn="l">
              <a:lnSpc>
                <a:spcPct val="135000"/>
              </a:lnSpc>
            </a:pPr>
            <a:r>
              <a:rPr sz="1200" b="0" i="0">
                <a:solidFill>
                  <a:srgbClr val="FAF5F0"/>
                </a:solidFill>
                <a:latin typeface="Arial"/>
              </a:rPr>
              <a:t>Monitor, cluster, investigate,
write, translate, check.</a:t>
            </a:r>
          </a:p>
        </p:txBody>
      </p:sp>
      <p:sp>
        <p:nvSpPr>
          <p:cNvPr id="24" name="TextBox 23"/>
          <p:cNvSpPr txBox="1"/>
          <p:nvPr/>
        </p:nvSpPr>
        <p:spPr>
          <a:xfrm>
            <a:off x="4160520" y="4434840"/>
            <a:ext cx="3108960" cy="292608"/>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PEOPLE HOLD THE GATE</a:t>
            </a:r>
          </a:p>
        </p:txBody>
      </p:sp>
      <p:sp>
        <p:nvSpPr>
          <p:cNvPr id="25" name="TextBox 24"/>
          <p:cNvSpPr txBox="1"/>
          <p:nvPr/>
        </p:nvSpPr>
        <p:spPr>
          <a:xfrm>
            <a:off x="4160520" y="4736592"/>
            <a:ext cx="3291840" cy="685800"/>
          </a:xfrm>
          <a:prstGeom prst="rect">
            <a:avLst/>
          </a:prstGeom>
          <a:noFill/>
        </p:spPr>
        <p:txBody>
          <a:bodyPr wrap="square" lIns="0" rIns="0" tIns="0" bIns="0" anchor="t">
            <a:spAutoFit/>
          </a:bodyPr>
          <a:lstStyle/>
          <a:p>
            <a:pPr algn="l">
              <a:lnSpc>
                <a:spcPct val="135000"/>
              </a:lnSpc>
            </a:pPr>
            <a:r>
              <a:rPr sz="1200" b="0" i="0">
                <a:solidFill>
                  <a:srgbClr val="FAF5F0"/>
                </a:solidFill>
                <a:latin typeface="Arial"/>
              </a:rPr>
              <a:t>A named editor, language reviewer
or subject expert approves.</a:t>
            </a:r>
          </a:p>
        </p:txBody>
      </p:sp>
      <p:sp>
        <p:nvSpPr>
          <p:cNvPr id="26" name="TextBox 25"/>
          <p:cNvSpPr txBox="1"/>
          <p:nvPr/>
        </p:nvSpPr>
        <p:spPr>
          <a:xfrm>
            <a:off x="7818120" y="4434840"/>
            <a:ext cx="3566160" cy="292608"/>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READERS SEE WHY</a:t>
            </a:r>
          </a:p>
        </p:txBody>
      </p:sp>
      <p:sp>
        <p:nvSpPr>
          <p:cNvPr id="27" name="TextBox 26"/>
          <p:cNvSpPr txBox="1"/>
          <p:nvPr/>
        </p:nvSpPr>
        <p:spPr>
          <a:xfrm>
            <a:off x="7818120" y="4736592"/>
            <a:ext cx="3657600" cy="685800"/>
          </a:xfrm>
          <a:prstGeom prst="rect">
            <a:avLst/>
          </a:prstGeom>
          <a:noFill/>
        </p:spPr>
        <p:txBody>
          <a:bodyPr wrap="square" lIns="0" rIns="0" tIns="0" bIns="0" anchor="t">
            <a:spAutoFit/>
          </a:bodyPr>
          <a:lstStyle/>
          <a:p>
            <a:pPr algn="l">
              <a:lnSpc>
                <a:spcPct val="135000"/>
              </a:lnSpc>
            </a:pPr>
            <a:r>
              <a:rPr sz="1200" b="0" i="0">
                <a:solidFill>
                  <a:srgbClr val="FAF5F0"/>
                </a:solidFill>
                <a:latin typeface="Arial"/>
              </a:rPr>
              <a:t>Sources, reasons, corrections and
the name behind every approval.</a:t>
            </a:r>
          </a:p>
        </p:txBody>
      </p:sp>
      <p:sp>
        <p:nvSpPr>
          <p:cNvPr id="28" name="TextBox 27"/>
          <p:cNvSpPr txBox="1"/>
          <p:nvPr/>
        </p:nvSpPr>
        <p:spPr>
          <a:xfrm>
            <a:off x="685800" y="5806440"/>
            <a:ext cx="10789920" cy="320040"/>
          </a:xfrm>
          <a:prstGeom prst="rect">
            <a:avLst/>
          </a:prstGeom>
          <a:noFill/>
        </p:spPr>
        <p:txBody>
          <a:bodyPr wrap="square" lIns="0" rIns="0" tIns="0" bIns="0" anchor="t">
            <a:spAutoFit/>
          </a:bodyPr>
          <a:lstStyle/>
          <a:p>
            <a:pPr algn="l">
              <a:lnSpc>
                <a:spcPct val="105000"/>
              </a:lnSpc>
            </a:pPr>
            <a:r>
              <a:rPr sz="1500" b="1" i="0">
                <a:solidFill>
                  <a:srgbClr val="33CC7A"/>
                </a:solidFill>
                <a:latin typeface="Arial"/>
              </a:rPr>
              <a:t>Nothing publishes without a named person.</a:t>
            </a:r>
          </a:p>
        </p:txBody>
      </p:sp>
      <p:sp>
        <p:nvSpPr>
          <p:cNvPr id="29" name="Rectangle 28"/>
          <p:cNvSpPr/>
          <p:nvPr/>
        </p:nvSpPr>
        <p:spPr>
          <a:xfrm>
            <a:off x="685800" y="6419088"/>
            <a:ext cx="10817352"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FAF5F0"/>
                </a:solidFill>
                <a:latin typeface="Arial"/>
              </a:rPr>
              <a:t>KalevaShorts  ·  the product</a:t>
            </a:r>
          </a:p>
        </p:txBody>
      </p:sp>
      <p:sp>
        <p:nvSpPr>
          <p:cNvPr id="31" name="TextBox 30"/>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FAF5F0"/>
                </a:solidFill>
                <a:latin typeface="Arial"/>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3954"/>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BACDE0"/>
                </a:solidFill>
                <a:latin typeface="Arial"/>
              </a:rPr>
              <a:t>SYSTEMS</a:t>
            </a:r>
          </a:p>
        </p:txBody>
      </p:sp>
      <p:sp>
        <p:nvSpPr>
          <p:cNvPr id="3" name="TextBox 2"/>
          <p:cNvSpPr txBox="1"/>
          <p:nvPr/>
        </p:nvSpPr>
        <p:spPr>
          <a:xfrm>
            <a:off x="685800" y="841248"/>
            <a:ext cx="8229600" cy="731520"/>
          </a:xfrm>
          <a:prstGeom prst="rect">
            <a:avLst/>
          </a:prstGeom>
          <a:noFill/>
        </p:spPr>
        <p:txBody>
          <a:bodyPr wrap="square" lIns="0" rIns="0" tIns="0" bIns="0" anchor="t">
            <a:spAutoFit/>
          </a:bodyPr>
          <a:lstStyle/>
          <a:p>
            <a:pPr algn="l">
              <a:lnSpc>
                <a:spcPct val="105000"/>
              </a:lnSpc>
            </a:pPr>
            <a:r>
              <a:rPr sz="3800" b="1" i="0">
                <a:solidFill>
                  <a:srgbClr val="FAF5F0"/>
                </a:solidFill>
                <a:latin typeface="Arial"/>
              </a:rPr>
              <a:t>Three systems, one loop.</a:t>
            </a:r>
          </a:p>
        </p:txBody>
      </p:sp>
      <p:sp>
        <p:nvSpPr>
          <p:cNvPr id="4" name="Rounded Rectangle 3"/>
          <p:cNvSpPr/>
          <p:nvPr/>
        </p:nvSpPr>
        <p:spPr>
          <a:xfrm>
            <a:off x="685800" y="1828800"/>
            <a:ext cx="2743200" cy="1097280"/>
          </a:xfrm>
          <a:prstGeom prst="roundRect">
            <a:avLst>
              <a:gd name="adj" fmla="val 8000"/>
            </a:avLst>
          </a:prstGeom>
          <a:solidFill>
            <a:srgbClr val="FA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93392"/>
            <a:ext cx="2377440" cy="320040"/>
          </a:xfrm>
          <a:prstGeom prst="rect">
            <a:avLst/>
          </a:prstGeom>
          <a:noFill/>
        </p:spPr>
        <p:txBody>
          <a:bodyPr wrap="square" lIns="0" rIns="0" tIns="0" bIns="0" anchor="t">
            <a:spAutoFit/>
          </a:bodyPr>
          <a:lstStyle/>
          <a:p>
            <a:pPr algn="l">
              <a:lnSpc>
                <a:spcPct val="105000"/>
              </a:lnSpc>
            </a:pPr>
            <a:r>
              <a:rPr sz="1700" b="1" i="0">
                <a:solidFill>
                  <a:srgbClr val="1B1411"/>
                </a:solidFill>
                <a:latin typeface="Arial"/>
              </a:rPr>
              <a:t>Browser</a:t>
            </a:r>
          </a:p>
        </p:txBody>
      </p:sp>
      <p:sp>
        <p:nvSpPr>
          <p:cNvPr id="6" name="TextBox 5"/>
          <p:cNvSpPr txBox="1"/>
          <p:nvPr/>
        </p:nvSpPr>
        <p:spPr>
          <a:xfrm>
            <a:off x="868680" y="2487168"/>
            <a:ext cx="2468880" cy="36576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Reader · Editor · Community</a:t>
            </a:r>
          </a:p>
        </p:txBody>
      </p:sp>
      <p:sp>
        <p:nvSpPr>
          <p:cNvPr id="7" name="Right Arrow 6"/>
          <p:cNvSpPr/>
          <p:nvPr/>
        </p:nvSpPr>
        <p:spPr>
          <a:xfrm>
            <a:off x="3529584" y="2276856"/>
            <a:ext cx="457200" cy="219456"/>
          </a:xfrm>
          <a:prstGeom prst="right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96512" y="1417320"/>
            <a:ext cx="2514600" cy="1920240"/>
          </a:xfrm>
          <a:prstGeom prst="roundRect">
            <a:avLst>
              <a:gd name="adj" fmla="val 8000"/>
            </a:avLst>
          </a:prstGeom>
          <a:solidFill>
            <a:srgbClr val="EEE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572768"/>
            <a:ext cx="2240280" cy="274320"/>
          </a:xfrm>
          <a:prstGeom prst="rect">
            <a:avLst/>
          </a:prstGeom>
          <a:noFill/>
        </p:spPr>
        <p:txBody>
          <a:bodyPr wrap="square" lIns="0" rIns="0" tIns="0" bIns="0" anchor="t">
            <a:spAutoFit/>
          </a:bodyPr>
          <a:lstStyle/>
          <a:p>
            <a:pPr algn="l">
              <a:lnSpc>
                <a:spcPct val="105000"/>
              </a:lnSpc>
            </a:pPr>
            <a:r>
              <a:rPr sz="1600" b="1" i="0">
                <a:solidFill>
                  <a:srgbClr val="1B1411"/>
                </a:solidFill>
                <a:latin typeface="Arial"/>
              </a:rPr>
              <a:t>Next.js 16</a:t>
            </a:r>
          </a:p>
        </p:txBody>
      </p:sp>
      <p:sp>
        <p:nvSpPr>
          <p:cNvPr id="10" name="TextBox 9"/>
          <p:cNvSpPr txBox="1"/>
          <p:nvPr/>
        </p:nvSpPr>
        <p:spPr>
          <a:xfrm>
            <a:off x="4242816" y="1883664"/>
            <a:ext cx="2194560" cy="1325880"/>
          </a:xfrm>
          <a:prstGeom prst="rect">
            <a:avLst/>
          </a:prstGeom>
          <a:noFill/>
        </p:spPr>
        <p:txBody>
          <a:bodyPr wrap="square" lIns="0" rIns="0" tIns="0" bIns="0" anchor="t">
            <a:spAutoFit/>
          </a:bodyPr>
          <a:lstStyle/>
          <a:p>
            <a:pPr algn="l">
              <a:lnSpc>
                <a:spcPct val="150000"/>
              </a:lnSpc>
            </a:pPr>
            <a:r>
              <a:rPr sz="950" b="0" i="0">
                <a:solidFill>
                  <a:srgbClr val="66574F"/>
                </a:solidFill>
                <a:latin typeface="Arial"/>
              </a:rPr>
              <a:t>React 19
Server Components + Actions
Clerk 7 session
GSAP / Lenis
7 languages</a:t>
            </a:r>
          </a:p>
        </p:txBody>
      </p:sp>
      <p:sp>
        <p:nvSpPr>
          <p:cNvPr id="11" name="Right Arrow 10"/>
          <p:cNvSpPr/>
          <p:nvPr/>
        </p:nvSpPr>
        <p:spPr>
          <a:xfrm>
            <a:off x="6720840" y="2276856"/>
            <a:ext cx="384048" cy="219456"/>
          </a:xfrm>
          <a:prstGeom prst="right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05472" y="1417320"/>
            <a:ext cx="2331720" cy="1920240"/>
          </a:xfrm>
          <a:prstGeom prst="roundRect">
            <a:avLst>
              <a:gd name="adj" fmla="val 8000"/>
            </a:avLst>
          </a:prstGeom>
          <a:solidFill>
            <a:srgbClr val="FA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1775" y="1572768"/>
            <a:ext cx="2057400" cy="274320"/>
          </a:xfrm>
          <a:prstGeom prst="rect">
            <a:avLst/>
          </a:prstGeom>
          <a:noFill/>
        </p:spPr>
        <p:txBody>
          <a:bodyPr wrap="square" lIns="0" rIns="0" tIns="0" bIns="0" anchor="t">
            <a:spAutoFit/>
          </a:bodyPr>
          <a:lstStyle/>
          <a:p>
            <a:pPr algn="l">
              <a:lnSpc>
                <a:spcPct val="105000"/>
              </a:lnSpc>
            </a:pPr>
            <a:r>
              <a:rPr sz="1600" b="1" i="0">
                <a:solidFill>
                  <a:srgbClr val="1B1411"/>
                </a:solidFill>
                <a:latin typeface="Arial"/>
              </a:rPr>
              <a:t>FastAPI</a:t>
            </a:r>
          </a:p>
        </p:txBody>
      </p:sp>
      <p:sp>
        <p:nvSpPr>
          <p:cNvPr id="14" name="TextBox 13"/>
          <p:cNvSpPr txBox="1"/>
          <p:nvPr/>
        </p:nvSpPr>
        <p:spPr>
          <a:xfrm>
            <a:off x="7351775" y="1883664"/>
            <a:ext cx="2057400" cy="1325880"/>
          </a:xfrm>
          <a:prstGeom prst="rect">
            <a:avLst/>
          </a:prstGeom>
          <a:noFill/>
        </p:spPr>
        <p:txBody>
          <a:bodyPr wrap="square" lIns="0" rIns="0" tIns="0" bIns="0" anchor="t">
            <a:spAutoFit/>
          </a:bodyPr>
          <a:lstStyle/>
          <a:p>
            <a:pPr algn="l">
              <a:lnSpc>
                <a:spcPct val="150000"/>
              </a:lnSpc>
            </a:pPr>
            <a:r>
              <a:rPr sz="950" b="0" i="0">
                <a:solidFill>
                  <a:srgbClr val="66574F"/>
                </a:solidFill>
                <a:latin typeface="Arial"/>
              </a:rPr>
              <a:t>/api/v1 · async Motor
Clerk RS256 bearer
reader / editor / admin
feeds · library · related
NewsroomSync</a:t>
            </a:r>
          </a:p>
        </p:txBody>
      </p:sp>
      <p:sp>
        <p:nvSpPr>
          <p:cNvPr id="15" name="Right Arrow 14"/>
          <p:cNvSpPr/>
          <p:nvPr/>
        </p:nvSpPr>
        <p:spPr>
          <a:xfrm>
            <a:off x="9646920" y="2276856"/>
            <a:ext cx="347472" cy="219456"/>
          </a:xfrm>
          <a:prstGeom prst="right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76688" y="1417320"/>
            <a:ext cx="1463040" cy="1920240"/>
          </a:xfrm>
          <a:prstGeom prst="roundRect">
            <a:avLst>
              <a:gd name="adj" fmla="val 8000"/>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0" y="1572768"/>
            <a:ext cx="1325880" cy="502920"/>
          </a:xfrm>
          <a:prstGeom prst="rect">
            <a:avLst/>
          </a:prstGeom>
          <a:noFill/>
        </p:spPr>
        <p:txBody>
          <a:bodyPr wrap="square" lIns="0" rIns="0" tIns="0" bIns="0" anchor="t">
            <a:spAutoFit/>
          </a:bodyPr>
          <a:lstStyle/>
          <a:p>
            <a:pPr algn="l">
              <a:lnSpc>
                <a:spcPct val="105000"/>
              </a:lnSpc>
            </a:pPr>
            <a:r>
              <a:rPr sz="1300" b="1" i="0">
                <a:solidFill>
                  <a:srgbClr val="1B1411"/>
                </a:solidFill>
                <a:latin typeface="Arial"/>
              </a:rPr>
              <a:t>Agentic
newsroom</a:t>
            </a:r>
          </a:p>
        </p:txBody>
      </p:sp>
      <p:sp>
        <p:nvSpPr>
          <p:cNvPr id="18" name="TextBox 17"/>
          <p:cNvSpPr txBox="1"/>
          <p:nvPr/>
        </p:nvSpPr>
        <p:spPr>
          <a:xfrm>
            <a:off x="10149840" y="2176272"/>
            <a:ext cx="1325880" cy="1005840"/>
          </a:xfrm>
          <a:prstGeom prst="rect">
            <a:avLst/>
          </a:prstGeom>
          <a:noFill/>
        </p:spPr>
        <p:txBody>
          <a:bodyPr wrap="square" lIns="0" rIns="0" tIns="0" bIns="0" anchor="t">
            <a:spAutoFit/>
          </a:bodyPr>
          <a:lstStyle/>
          <a:p>
            <a:pPr algn="l">
              <a:lnSpc>
                <a:spcPct val="145000"/>
              </a:lnSpc>
            </a:pPr>
            <a:r>
              <a:rPr sz="860" b="0" i="0">
                <a:solidFill>
                  <a:srgbClr val="1B1411"/>
                </a:solidFill>
                <a:latin typeface="Arial"/>
              </a:rPr>
              <a:t>LangGraph
9 agents
human gate
Gemini</a:t>
            </a:r>
          </a:p>
        </p:txBody>
      </p:sp>
      <p:sp>
        <p:nvSpPr>
          <p:cNvPr id="19" name="Down Arrow 18"/>
          <p:cNvSpPr/>
          <p:nvPr/>
        </p:nvSpPr>
        <p:spPr>
          <a:xfrm>
            <a:off x="4572000" y="3438144"/>
            <a:ext cx="164592" cy="347472"/>
          </a:xfrm>
          <a:prstGeom prst="down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7635240" y="3438144"/>
            <a:ext cx="164592" cy="347472"/>
          </a:xfrm>
          <a:prstGeom prst="down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10561320" y="3438144"/>
            <a:ext cx="164592" cy="347472"/>
          </a:xfrm>
          <a:prstGeom prst="downArrow">
            <a:avLst/>
          </a:prstGeom>
          <a:solidFill>
            <a:srgbClr val="BA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96512" y="3840480"/>
            <a:ext cx="7443216" cy="713232"/>
          </a:xfrm>
          <a:prstGeom prst="roundRect">
            <a:avLst>
              <a:gd name="adj" fmla="val 8000"/>
            </a:avLst>
          </a:prstGeom>
          <a:solidFill>
            <a:srgbClr val="EEE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42816" y="3950208"/>
            <a:ext cx="7223760" cy="457200"/>
          </a:xfrm>
          <a:prstGeom prst="rect">
            <a:avLst/>
          </a:prstGeom>
          <a:noFill/>
        </p:spPr>
        <p:txBody>
          <a:bodyPr wrap="square" lIns="0" rIns="0" tIns="0" bIns="0" anchor="t">
            <a:spAutoFit/>
          </a:bodyPr>
          <a:lstStyle/>
          <a:p>
            <a:pPr algn="l">
              <a:lnSpc>
                <a:spcPct val="105000"/>
              </a:lnSpc>
            </a:pPr>
            <a:r>
              <a:rPr sz="1050" b="1" i="0">
                <a:solidFill>
                  <a:srgbClr val="1B1411"/>
                </a:solidFill>
                <a:latin typeface="Arial"/>
              </a:rPr>
              <a:t>MongoDB   ·   multilingual_news (reader)   +   agentic_newsroom (tree, reviews, audit)</a:t>
            </a:r>
          </a:p>
        </p:txBody>
      </p:sp>
      <p:sp>
        <p:nvSpPr>
          <p:cNvPr id="24" name="TextBox 23"/>
          <p:cNvSpPr txBox="1"/>
          <p:nvPr/>
        </p:nvSpPr>
        <p:spPr>
          <a:xfrm>
            <a:off x="685800" y="3886200"/>
            <a:ext cx="2834640" cy="914400"/>
          </a:xfrm>
          <a:prstGeom prst="rect">
            <a:avLst/>
          </a:prstGeom>
          <a:noFill/>
        </p:spPr>
        <p:txBody>
          <a:bodyPr wrap="square" lIns="0" rIns="0" tIns="0" bIns="0" anchor="t">
            <a:spAutoFit/>
          </a:bodyPr>
          <a:lstStyle/>
          <a:p>
            <a:pPr algn="l">
              <a:lnSpc>
                <a:spcPct val="145000"/>
              </a:lnSpc>
            </a:pPr>
            <a:r>
              <a:rPr sz="1000" b="0" i="0">
                <a:solidFill>
                  <a:srgbClr val="BACDE0"/>
                </a:solidFill>
                <a:latin typeface="Arial"/>
              </a:rPr>
              <a:t>Clerk owns sign-in.
The browser sends a Bearer token.
Every route checks it.</a:t>
            </a:r>
          </a:p>
        </p:txBody>
      </p:sp>
      <p:sp>
        <p:nvSpPr>
          <p:cNvPr id="25" name="Left Arrow 24"/>
          <p:cNvSpPr/>
          <p:nvPr/>
        </p:nvSpPr>
        <p:spPr>
          <a:xfrm>
            <a:off x="8778240" y="5010912"/>
            <a:ext cx="1965960" cy="182880"/>
          </a:xfrm>
          <a:prstGeom prst="lef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4681728"/>
            <a:ext cx="3108960" cy="274320"/>
          </a:xfrm>
          <a:prstGeom prst="rect">
            <a:avLst/>
          </a:prstGeom>
          <a:noFill/>
        </p:spPr>
        <p:txBody>
          <a:bodyPr wrap="square" lIns="0" rIns="0" tIns="0" bIns="0" anchor="t">
            <a:spAutoFit/>
          </a:bodyPr>
          <a:lstStyle/>
          <a:p>
            <a:pPr algn="r">
              <a:lnSpc>
                <a:spcPct val="105000"/>
              </a:lnSpc>
            </a:pPr>
            <a:r>
              <a:rPr sz="950" b="0" i="0">
                <a:solidFill>
                  <a:srgbClr val="33CC7A"/>
                </a:solidFill>
                <a:latin typeface="Arial"/>
              </a:rPr>
              <a:t>published stories → NewsroomSync</a:t>
            </a:r>
          </a:p>
        </p:txBody>
      </p:sp>
      <p:sp>
        <p:nvSpPr>
          <p:cNvPr id="27" name="Rectangle 26"/>
          <p:cNvSpPr/>
          <p:nvPr/>
        </p:nvSpPr>
        <p:spPr>
          <a:xfrm>
            <a:off x="685800" y="5760720"/>
            <a:ext cx="10835640" cy="7315"/>
          </a:xfrm>
          <a:prstGeom prst="rect">
            <a:avLst/>
          </a:prstGeom>
          <a:solidFill>
            <a:srgbClr val="3A5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70448"/>
            <a:ext cx="10789920" cy="32004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The browser never sees the newsroom key. Authorization happens on the server, on every render.</a:t>
            </a:r>
          </a:p>
        </p:txBody>
      </p:sp>
      <p:sp>
        <p:nvSpPr>
          <p:cNvPr id="29" name="Rectangle 28"/>
          <p:cNvSpPr/>
          <p:nvPr/>
        </p:nvSpPr>
        <p:spPr>
          <a:xfrm>
            <a:off x="685800" y="6419088"/>
            <a:ext cx="10817352"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FAF5F0"/>
                </a:solidFill>
                <a:latin typeface="Arial"/>
              </a:rPr>
              <a:t>KalevaShorts  ·  architecture</a:t>
            </a:r>
          </a:p>
        </p:txBody>
      </p:sp>
      <p:sp>
        <p:nvSpPr>
          <p:cNvPr id="31" name="TextBox 30"/>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FAF5F0"/>
                </a:solidFill>
                <a:latin typeface="Arial"/>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F0"/>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FRONTEND</a:t>
            </a:r>
          </a:p>
        </p:txBody>
      </p:sp>
      <p:sp>
        <p:nvSpPr>
          <p:cNvPr id="3" name="TextBox 2"/>
          <p:cNvSpPr txBox="1"/>
          <p:nvPr/>
        </p:nvSpPr>
        <p:spPr>
          <a:xfrm>
            <a:off x="685800" y="841248"/>
            <a:ext cx="5486400" cy="731520"/>
          </a:xfrm>
          <a:prstGeom prst="rect">
            <a:avLst/>
          </a:prstGeom>
          <a:noFill/>
        </p:spPr>
        <p:txBody>
          <a:bodyPr wrap="square" lIns="0" rIns="0" tIns="0" bIns="0" anchor="t">
            <a:spAutoFit/>
          </a:bodyPr>
          <a:lstStyle/>
          <a:p>
            <a:pPr algn="l">
              <a:lnSpc>
                <a:spcPct val="102000"/>
              </a:lnSpc>
            </a:pPr>
            <a:r>
              <a:rPr sz="3800" b="1" i="0">
                <a:solidFill>
                  <a:srgbClr val="1B1411"/>
                </a:solidFill>
                <a:latin typeface="Arial"/>
              </a:rPr>
              <a:t>A public face and
a working desk.</a:t>
            </a:r>
          </a:p>
        </p:txBody>
      </p:sp>
      <p:sp>
        <p:nvSpPr>
          <p:cNvPr id="4" name="TextBox 3"/>
          <p:cNvSpPr txBox="1"/>
          <p:nvPr/>
        </p:nvSpPr>
        <p:spPr>
          <a:xfrm>
            <a:off x="685800" y="2084831"/>
            <a:ext cx="4892040" cy="640080"/>
          </a:xfrm>
          <a:prstGeom prst="rect">
            <a:avLst/>
          </a:prstGeom>
          <a:noFill/>
        </p:spPr>
        <p:txBody>
          <a:bodyPr wrap="square" lIns="0" rIns="0" tIns="0" bIns="0">
            <a:spAutoFit/>
          </a:bodyPr>
          <a:lstStyle/>
          <a:p>
            <a:pPr>
              <a:lnSpc>
                <a:spcPct val="125000"/>
              </a:lnSpc>
            </a:pPr>
            <a:r>
              <a:rPr sz="1050" b="1">
                <a:solidFill>
                  <a:srgbClr val="1B1411"/>
                </a:solidFill>
                <a:latin typeface="Arial"/>
              </a:rPr>
              <a:t>Next.js 16 + React 19</a:t>
            </a:r>
            <a:r>
              <a:rPr sz="1050" b="0">
                <a:solidFill>
                  <a:srgbClr val="66574F"/>
                </a:solidFill>
                <a:latin typeface="Arial"/>
              </a:rPr>
              <a:t>  Server Components, Server Actions, partial prerender.</a:t>
            </a:r>
          </a:p>
        </p:txBody>
      </p:sp>
      <p:sp>
        <p:nvSpPr>
          <p:cNvPr id="5" name="TextBox 4"/>
          <p:cNvSpPr txBox="1"/>
          <p:nvPr/>
        </p:nvSpPr>
        <p:spPr>
          <a:xfrm>
            <a:off x="685800" y="2834639"/>
            <a:ext cx="4892040" cy="640080"/>
          </a:xfrm>
          <a:prstGeom prst="rect">
            <a:avLst/>
          </a:prstGeom>
          <a:noFill/>
        </p:spPr>
        <p:txBody>
          <a:bodyPr wrap="square" lIns="0" rIns="0" tIns="0" bIns="0">
            <a:spAutoFit/>
          </a:bodyPr>
          <a:lstStyle/>
          <a:p>
            <a:pPr>
              <a:lnSpc>
                <a:spcPct val="125000"/>
              </a:lnSpc>
            </a:pPr>
            <a:r>
              <a:rPr sz="1050" b="1">
                <a:solidFill>
                  <a:srgbClr val="1B1411"/>
                </a:solidFill>
                <a:latin typeface="Arial"/>
              </a:rPr>
              <a:t>Clerk 7</a:t>
            </a:r>
            <a:r>
              <a:rPr sz="1050" b="0">
                <a:solidFill>
                  <a:srgbClr val="66574F"/>
                </a:solidFill>
                <a:latin typeface="Arial"/>
              </a:rPr>
              <a:t>  Sign-in, session, roles; authorization checked server-side on every render.</a:t>
            </a:r>
          </a:p>
        </p:txBody>
      </p:sp>
      <p:sp>
        <p:nvSpPr>
          <p:cNvPr id="6" name="TextBox 5"/>
          <p:cNvSpPr txBox="1"/>
          <p:nvPr/>
        </p:nvSpPr>
        <p:spPr>
          <a:xfrm>
            <a:off x="685800" y="3584448"/>
            <a:ext cx="4892040" cy="640080"/>
          </a:xfrm>
          <a:prstGeom prst="rect">
            <a:avLst/>
          </a:prstGeom>
          <a:noFill/>
        </p:spPr>
        <p:txBody>
          <a:bodyPr wrap="square" lIns="0" rIns="0" tIns="0" bIns="0">
            <a:spAutoFit/>
          </a:bodyPr>
          <a:lstStyle/>
          <a:p>
            <a:pPr>
              <a:lnSpc>
                <a:spcPct val="125000"/>
              </a:lnSpc>
            </a:pPr>
            <a:r>
              <a:rPr sz="1050" b="1">
                <a:solidFill>
                  <a:srgbClr val="1B1411"/>
                </a:solidFill>
                <a:latin typeface="Arial"/>
              </a:rPr>
              <a:t>GSAP 3 + Lenis</a:t>
            </a:r>
            <a:r>
              <a:rPr sz="1050" b="0">
                <a:solidFill>
                  <a:srgbClr val="66574F"/>
                </a:solidFill>
                <a:latin typeface="Arial"/>
              </a:rPr>
              <a:t>  Scroll scenes, SplitText, reduced-motion safe, clean teardown.</a:t>
            </a:r>
          </a:p>
        </p:txBody>
      </p:sp>
      <p:sp>
        <p:nvSpPr>
          <p:cNvPr id="7" name="TextBox 6"/>
          <p:cNvSpPr txBox="1"/>
          <p:nvPr/>
        </p:nvSpPr>
        <p:spPr>
          <a:xfrm>
            <a:off x="685800" y="4334256"/>
            <a:ext cx="4892040" cy="640080"/>
          </a:xfrm>
          <a:prstGeom prst="rect">
            <a:avLst/>
          </a:prstGeom>
          <a:noFill/>
        </p:spPr>
        <p:txBody>
          <a:bodyPr wrap="square" lIns="0" rIns="0" tIns="0" bIns="0">
            <a:spAutoFit/>
          </a:bodyPr>
          <a:lstStyle/>
          <a:p>
            <a:pPr>
              <a:lnSpc>
                <a:spcPct val="125000"/>
              </a:lnSpc>
            </a:pPr>
            <a:r>
              <a:rPr sz="1050" b="1">
                <a:solidFill>
                  <a:srgbClr val="1B1411"/>
                </a:solidFill>
                <a:latin typeface="Arial"/>
              </a:rPr>
              <a:t>One design language</a:t>
            </a:r>
            <a:r>
              <a:rPr sz="1050" b="0">
                <a:solidFill>
                  <a:srgbClr val="66574F"/>
                </a:solidFill>
                <a:latin typeface="Arial"/>
              </a:rPr>
              <a:t>  Tokens from the landing page carried into the dashboard.</a:t>
            </a:r>
          </a:p>
        </p:txBody>
      </p:sp>
      <p:sp>
        <p:nvSpPr>
          <p:cNvPr id="8" name="TextBox 7"/>
          <p:cNvSpPr txBox="1"/>
          <p:nvPr/>
        </p:nvSpPr>
        <p:spPr>
          <a:xfrm>
            <a:off x="685800" y="5084064"/>
            <a:ext cx="4892040" cy="640080"/>
          </a:xfrm>
          <a:prstGeom prst="rect">
            <a:avLst/>
          </a:prstGeom>
          <a:noFill/>
        </p:spPr>
        <p:txBody>
          <a:bodyPr wrap="square" lIns="0" rIns="0" tIns="0" bIns="0">
            <a:spAutoFit/>
          </a:bodyPr>
          <a:lstStyle/>
          <a:p>
            <a:pPr>
              <a:lnSpc>
                <a:spcPct val="125000"/>
              </a:lnSpc>
            </a:pPr>
            <a:r>
              <a:rPr sz="1050" b="1">
                <a:solidFill>
                  <a:srgbClr val="1B1411"/>
                </a:solidFill>
                <a:latin typeface="Arial"/>
              </a:rPr>
              <a:t>Seven languages</a:t>
            </a:r>
            <a:r>
              <a:rPr sz="1050" b="0">
                <a:solidFill>
                  <a:srgbClr val="66574F"/>
                </a:solidFill>
                <a:latin typeface="Arial"/>
              </a:rPr>
              <a:t>  Reader, editor and community surfaces; Arabic is right-to-left.</a:t>
            </a:r>
          </a:p>
        </p:txBody>
      </p:sp>
      <p:sp>
        <p:nvSpPr>
          <p:cNvPr id="9" name="TextBox 8"/>
          <p:cNvSpPr txBox="1"/>
          <p:nvPr/>
        </p:nvSpPr>
        <p:spPr>
          <a:xfrm>
            <a:off x="685800" y="5806440"/>
            <a:ext cx="4937760" cy="274320"/>
          </a:xfrm>
          <a:prstGeom prst="rect">
            <a:avLst/>
          </a:prstGeom>
          <a:noFill/>
        </p:spPr>
        <p:txBody>
          <a:bodyPr wrap="square" lIns="0" rIns="0" tIns="0" bIns="0" anchor="t">
            <a:spAutoFit/>
          </a:bodyPr>
          <a:lstStyle/>
          <a:p>
            <a:pPr algn="l">
              <a:lnSpc>
                <a:spcPct val="105000"/>
              </a:lnSpc>
            </a:pPr>
            <a:r>
              <a:rPr sz="950" b="1" i="0">
                <a:solidFill>
                  <a:srgbClr val="33CC7A"/>
                </a:solidFill>
                <a:latin typeface="Arial"/>
              </a:rPr>
              <a:t>/dashboard    /editor    /dashboard/community</a:t>
            </a:r>
          </a:p>
        </p:txBody>
      </p:sp>
      <p:pic>
        <p:nvPicPr>
          <p:cNvPr id="10" name="Picture 9" descr="landing-crop.png"/>
          <p:cNvPicPr>
            <a:picLocks noChangeAspect="1"/>
          </p:cNvPicPr>
          <p:nvPr/>
        </p:nvPicPr>
        <p:blipFill>
          <a:blip r:embed="rId2"/>
          <a:stretch>
            <a:fillRect/>
          </a:stretch>
        </p:blipFill>
        <p:spPr>
          <a:xfrm>
            <a:off x="5806440" y="1143000"/>
            <a:ext cx="5715000" cy="3571646"/>
          </a:xfrm>
          <a:prstGeom prst="rect">
            <a:avLst/>
          </a:prstGeom>
        </p:spPr>
      </p:pic>
      <p:sp>
        <p:nvSpPr>
          <p:cNvPr id="11" name="Rectangle 10"/>
          <p:cNvSpPr/>
          <p:nvPr/>
        </p:nvSpPr>
        <p:spPr>
          <a:xfrm>
            <a:off x="5806440" y="4773168"/>
            <a:ext cx="571500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06440" y="4882896"/>
            <a:ext cx="5669280" cy="274320"/>
          </a:xfrm>
          <a:prstGeom prst="rect">
            <a:avLst/>
          </a:prstGeom>
          <a:noFill/>
        </p:spPr>
        <p:txBody>
          <a:bodyPr wrap="square" lIns="0" rIns="0" tIns="0" bIns="0" anchor="t">
            <a:spAutoFit/>
          </a:bodyPr>
          <a:lstStyle/>
          <a:p>
            <a:pPr algn="l">
              <a:lnSpc>
                <a:spcPct val="105000"/>
              </a:lnSpc>
            </a:pPr>
            <a:r>
              <a:rPr sz="900" b="0" i="0">
                <a:solidFill>
                  <a:srgbClr val="66574F"/>
                </a:solidFill>
                <a:latin typeface="Arial"/>
              </a:rPr>
              <a:t>Public landing page · live screenshot</a:t>
            </a:r>
          </a:p>
        </p:txBody>
      </p:sp>
      <p:sp>
        <p:nvSpPr>
          <p:cNvPr id="13" name="TextBox 12"/>
          <p:cNvSpPr txBox="1"/>
          <p:nvPr/>
        </p:nvSpPr>
        <p:spPr>
          <a:xfrm>
            <a:off x="5806440" y="5193792"/>
            <a:ext cx="5669280" cy="45720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The same tokens, type and restraint run from the first screen into the editor.</a:t>
            </a:r>
          </a:p>
        </p:txBody>
      </p:sp>
      <p:sp>
        <p:nvSpPr>
          <p:cNvPr id="14" name="Rectangle 13"/>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frontend</a:t>
            </a:r>
          </a:p>
        </p:txBody>
      </p:sp>
      <p:sp>
        <p:nvSpPr>
          <p:cNvPr id="16" name="TextBox 15"/>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F0"/>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EDITOR</a:t>
            </a:r>
          </a:p>
        </p:txBody>
      </p:sp>
      <p:sp>
        <p:nvSpPr>
          <p:cNvPr id="3" name="TextBox 2"/>
          <p:cNvSpPr txBox="1"/>
          <p:nvPr/>
        </p:nvSpPr>
        <p:spPr>
          <a:xfrm>
            <a:off x="685800" y="841248"/>
            <a:ext cx="4754880" cy="731520"/>
          </a:xfrm>
          <a:prstGeom prst="rect">
            <a:avLst/>
          </a:prstGeom>
          <a:noFill/>
        </p:spPr>
        <p:txBody>
          <a:bodyPr wrap="square" lIns="0" rIns="0" tIns="0" bIns="0" anchor="t">
            <a:spAutoFit/>
          </a:bodyPr>
          <a:lstStyle/>
          <a:p>
            <a:pPr algn="l">
              <a:lnSpc>
                <a:spcPct val="102000"/>
              </a:lnSpc>
            </a:pPr>
            <a:r>
              <a:rPr sz="3800" b="1" i="0">
                <a:solidFill>
                  <a:srgbClr val="1B1411"/>
                </a:solidFill>
                <a:latin typeface="Arial"/>
              </a:rPr>
              <a:t>The story tree,
not a feed.</a:t>
            </a:r>
          </a:p>
        </p:txBody>
      </p:sp>
      <p:sp>
        <p:nvSpPr>
          <p:cNvPr id="4" name="TextBox 3"/>
          <p:cNvSpPr txBox="1"/>
          <p:nvPr/>
        </p:nvSpPr>
        <p:spPr>
          <a:xfrm>
            <a:off x="685800" y="1993392"/>
            <a:ext cx="1645920" cy="822960"/>
          </a:xfrm>
          <a:prstGeom prst="rect">
            <a:avLst/>
          </a:prstGeom>
          <a:noFill/>
        </p:spPr>
        <p:txBody>
          <a:bodyPr wrap="square" lIns="0" rIns="0" tIns="0" bIns="0" anchor="t">
            <a:spAutoFit/>
          </a:bodyPr>
          <a:lstStyle/>
          <a:p>
            <a:pPr algn="l">
              <a:lnSpc>
                <a:spcPct val="90000"/>
              </a:lnSpc>
            </a:pPr>
            <a:r>
              <a:rPr sz="4400" b="1" i="0">
                <a:solidFill>
                  <a:srgbClr val="33CC7A"/>
                </a:solidFill>
                <a:latin typeface="Arial"/>
              </a:rPr>
              <a:t>22</a:t>
            </a:r>
          </a:p>
        </p:txBody>
      </p:sp>
      <p:sp>
        <p:nvSpPr>
          <p:cNvPr id="5" name="TextBox 4"/>
          <p:cNvSpPr txBox="1"/>
          <p:nvPr/>
        </p:nvSpPr>
        <p:spPr>
          <a:xfrm>
            <a:off x="1508760" y="2084831"/>
            <a:ext cx="2560320" cy="274320"/>
          </a:xfrm>
          <a:prstGeom prst="rect">
            <a:avLst/>
          </a:prstGeom>
          <a:noFill/>
        </p:spPr>
        <p:txBody>
          <a:bodyPr wrap="square" lIns="0" rIns="0" tIns="0" bIns="0" anchor="t">
            <a:spAutoFit/>
          </a:bodyPr>
          <a:lstStyle/>
          <a:p>
            <a:pPr algn="l">
              <a:lnSpc>
                <a:spcPct val="105000"/>
              </a:lnSpc>
            </a:pPr>
            <a:r>
              <a:rPr sz="1100" b="1" i="0">
                <a:solidFill>
                  <a:srgbClr val="66574F"/>
                </a:solidFill>
                <a:latin typeface="Arial"/>
              </a:rPr>
              <a:t>topics</a:t>
            </a:r>
          </a:p>
        </p:txBody>
      </p:sp>
      <p:sp>
        <p:nvSpPr>
          <p:cNvPr id="6" name="TextBox 5"/>
          <p:cNvSpPr txBox="1"/>
          <p:nvPr/>
        </p:nvSpPr>
        <p:spPr>
          <a:xfrm>
            <a:off x="1508760" y="2359152"/>
            <a:ext cx="2926080" cy="274320"/>
          </a:xfrm>
          <a:prstGeom prst="rect">
            <a:avLst/>
          </a:prstGeom>
          <a:noFill/>
        </p:spPr>
        <p:txBody>
          <a:bodyPr wrap="square" lIns="0" rIns="0" tIns="0" bIns="0" anchor="t">
            <a:spAutoFit/>
          </a:bodyPr>
          <a:lstStyle/>
          <a:p>
            <a:pPr algn="l">
              <a:lnSpc>
                <a:spcPct val="105000"/>
              </a:lnSpc>
            </a:pPr>
            <a:r>
              <a:rPr sz="1100" b="1" i="0">
                <a:solidFill>
                  <a:srgbClr val="1B1411"/>
                </a:solidFill>
                <a:latin typeface="Arial"/>
              </a:rPr>
              <a:t>11 branch links</a:t>
            </a:r>
          </a:p>
        </p:txBody>
      </p:sp>
      <p:sp>
        <p:nvSpPr>
          <p:cNvPr id="7" name="TextBox 6"/>
          <p:cNvSpPr txBox="1"/>
          <p:nvPr/>
        </p:nvSpPr>
        <p:spPr>
          <a:xfrm>
            <a:off x="685800" y="2761488"/>
            <a:ext cx="4389120" cy="320040"/>
          </a:xfrm>
          <a:prstGeom prst="rect">
            <a:avLst/>
          </a:prstGeom>
          <a:noFill/>
        </p:spPr>
        <p:txBody>
          <a:bodyPr wrap="square" lIns="0" rIns="0" tIns="0" bIns="0" anchor="t">
            <a:spAutoFit/>
          </a:bodyPr>
          <a:lstStyle/>
          <a:p>
            <a:pPr algn="l">
              <a:lnSpc>
                <a:spcPct val="105000"/>
              </a:lnSpc>
            </a:pPr>
            <a:r>
              <a:rPr sz="1200" b="0" i="0">
                <a:solidFill>
                  <a:srgbClr val="66574F"/>
                </a:solidFill>
                <a:latin typeface="Arial"/>
              </a:rPr>
              <a:t>45 live events in the last 7 days</a:t>
            </a:r>
          </a:p>
        </p:txBody>
      </p:sp>
      <p:sp>
        <p:nvSpPr>
          <p:cNvPr id="8" name="TextBox 7"/>
          <p:cNvSpPr txBox="1"/>
          <p:nvPr/>
        </p:nvSpPr>
        <p:spPr>
          <a:xfrm>
            <a:off x="685800" y="3291840"/>
            <a:ext cx="4434840" cy="566928"/>
          </a:xfrm>
          <a:prstGeom prst="rect">
            <a:avLst/>
          </a:prstGeom>
          <a:noFill/>
        </p:spPr>
        <p:txBody>
          <a:bodyPr wrap="square" lIns="0" rIns="0" tIns="0" bIns="0">
            <a:spAutoFit/>
          </a:bodyPr>
          <a:lstStyle/>
          <a:p>
            <a:pPr>
              <a:lnSpc>
                <a:spcPct val="125000"/>
              </a:lnSpc>
            </a:pPr>
            <a:r>
              <a:rPr sz="960" b="1">
                <a:solidFill>
                  <a:srgbClr val="1B1411"/>
                </a:solidFill>
                <a:latin typeface="Arial"/>
              </a:rPr>
              <a:t>Events, not articles  </a:t>
            </a:r>
            <a:r>
              <a:rPr sz="960" b="0">
                <a:solidFill>
                  <a:srgbClr val="66574F"/>
                </a:solidFill>
                <a:latin typeface="Arial"/>
              </a:rPr>
              <a:t>Articles attach to one event; the same news from several outlets becomes one row.</a:t>
            </a:r>
          </a:p>
        </p:txBody>
      </p:sp>
      <p:sp>
        <p:nvSpPr>
          <p:cNvPr id="9" name="TextBox 8"/>
          <p:cNvSpPr txBox="1"/>
          <p:nvPr/>
        </p:nvSpPr>
        <p:spPr>
          <a:xfrm>
            <a:off x="685800" y="3950208"/>
            <a:ext cx="4434840" cy="566928"/>
          </a:xfrm>
          <a:prstGeom prst="rect">
            <a:avLst/>
          </a:prstGeom>
          <a:noFill/>
        </p:spPr>
        <p:txBody>
          <a:bodyPr wrap="square" lIns="0" rIns="0" tIns="0" bIns="0">
            <a:spAutoFit/>
          </a:bodyPr>
          <a:lstStyle/>
          <a:p>
            <a:pPr>
              <a:lnSpc>
                <a:spcPct val="125000"/>
              </a:lnSpc>
            </a:pPr>
            <a:r>
              <a:rPr sz="960" b="1">
                <a:solidFill>
                  <a:srgbClr val="1B1411"/>
                </a:solidFill>
                <a:latin typeface="Arial"/>
              </a:rPr>
              <a:t>Symmetric branches  </a:t>
            </a:r>
            <a:r>
              <a:rPr sz="960" b="0">
                <a:solidFill>
                  <a:srgbClr val="66574F"/>
                </a:solidFill>
                <a:latin typeface="Arial"/>
              </a:rPr>
              <a:t>The Connector links related topics both ways; the tree is a graph, not a folder.</a:t>
            </a:r>
          </a:p>
        </p:txBody>
      </p:sp>
      <p:sp>
        <p:nvSpPr>
          <p:cNvPr id="10" name="TextBox 9"/>
          <p:cNvSpPr txBox="1"/>
          <p:nvPr/>
        </p:nvSpPr>
        <p:spPr>
          <a:xfrm>
            <a:off x="685800" y="4608576"/>
            <a:ext cx="4434840" cy="566928"/>
          </a:xfrm>
          <a:prstGeom prst="rect">
            <a:avLst/>
          </a:prstGeom>
          <a:noFill/>
        </p:spPr>
        <p:txBody>
          <a:bodyPr wrap="square" lIns="0" rIns="0" tIns="0" bIns="0">
            <a:spAutoFit/>
          </a:bodyPr>
          <a:lstStyle/>
          <a:p>
            <a:pPr>
              <a:lnSpc>
                <a:spcPct val="125000"/>
              </a:lnSpc>
            </a:pPr>
            <a:r>
              <a:rPr sz="960" b="1">
                <a:solidFill>
                  <a:srgbClr val="1B1411"/>
                </a:solidFill>
                <a:latin typeface="Arial"/>
              </a:rPr>
              <a:t>Trace and jump  </a:t>
            </a:r>
            <a:r>
              <a:rPr sz="960" b="0">
                <a:solidFill>
                  <a:srgbClr val="66574F"/>
                </a:solidFill>
                <a:latin typeface="Arial"/>
              </a:rPr>
              <a:t>Hover a topic to trace its links; click a linked topic to jump to it.</a:t>
            </a:r>
          </a:p>
        </p:txBody>
      </p:sp>
      <p:sp>
        <p:nvSpPr>
          <p:cNvPr id="11" name="TextBox 10"/>
          <p:cNvSpPr txBox="1"/>
          <p:nvPr/>
        </p:nvSpPr>
        <p:spPr>
          <a:xfrm>
            <a:off x="685800" y="5266944"/>
            <a:ext cx="4434840" cy="566928"/>
          </a:xfrm>
          <a:prstGeom prst="rect">
            <a:avLst/>
          </a:prstGeom>
          <a:noFill/>
        </p:spPr>
        <p:txBody>
          <a:bodyPr wrap="square" lIns="0" rIns="0" tIns="0" bIns="0">
            <a:spAutoFit/>
          </a:bodyPr>
          <a:lstStyle/>
          <a:p>
            <a:pPr>
              <a:lnSpc>
                <a:spcPct val="125000"/>
              </a:lnSpc>
            </a:pPr>
            <a:r>
              <a:rPr sz="960" b="1">
                <a:solidFill>
                  <a:srgbClr val="1B1411"/>
                </a:solidFill>
                <a:latin typeface="Arial"/>
              </a:rPr>
              <a:t>Drawn, then settled  </a:t>
            </a:r>
            <a:r>
              <a:rPr sz="960" b="0">
                <a:solidFill>
                  <a:srgbClr val="66574F"/>
                </a:solidFill>
                <a:latin typeface="Arial"/>
              </a:rPr>
              <a:t>GSAP grows the trunk and branches, then hands the surface back.</a:t>
            </a:r>
          </a:p>
        </p:txBody>
      </p:sp>
      <p:pic>
        <p:nvPicPr>
          <p:cNvPr id="12" name="Picture 11" descr="tree-crop.png"/>
          <p:cNvPicPr>
            <a:picLocks noChangeAspect="1"/>
          </p:cNvPicPr>
          <p:nvPr/>
        </p:nvPicPr>
        <p:blipFill>
          <a:blip r:embed="rId2"/>
          <a:stretch>
            <a:fillRect/>
          </a:stretch>
        </p:blipFill>
        <p:spPr>
          <a:xfrm>
            <a:off x="5440680" y="1051560"/>
            <a:ext cx="6080760" cy="3800246"/>
          </a:xfrm>
          <a:prstGeom prst="rect">
            <a:avLst/>
          </a:prstGeom>
        </p:spPr>
      </p:pic>
      <p:sp>
        <p:nvSpPr>
          <p:cNvPr id="13" name="Rectangle 12"/>
          <p:cNvSpPr/>
          <p:nvPr/>
        </p:nvSpPr>
        <p:spPr>
          <a:xfrm>
            <a:off x="5440680" y="4974336"/>
            <a:ext cx="608076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5084064"/>
            <a:ext cx="6035040" cy="274320"/>
          </a:xfrm>
          <a:prstGeom prst="rect">
            <a:avLst/>
          </a:prstGeom>
          <a:noFill/>
        </p:spPr>
        <p:txBody>
          <a:bodyPr wrap="square" lIns="0" rIns="0" tIns="0" bIns="0" anchor="t">
            <a:spAutoFit/>
          </a:bodyPr>
          <a:lstStyle/>
          <a:p>
            <a:pPr algn="l">
              <a:lnSpc>
                <a:spcPct val="105000"/>
              </a:lnSpc>
            </a:pPr>
            <a:r>
              <a:rPr sz="900" b="0" i="0">
                <a:solidFill>
                  <a:srgbClr val="66574F"/>
                </a:solidFill>
                <a:latin typeface="Arial"/>
              </a:rPr>
              <a:t>Live editor data · real topic counts</a:t>
            </a:r>
          </a:p>
        </p:txBody>
      </p:sp>
      <p:sp>
        <p:nvSpPr>
          <p:cNvPr id="15" name="TextBox 14"/>
          <p:cNvSpPr txBox="1"/>
          <p:nvPr/>
        </p:nvSpPr>
        <p:spPr>
          <a:xfrm>
            <a:off x="5440680" y="5394960"/>
            <a:ext cx="6035040" cy="50292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A topic tree is how a newsroom explains its own judgement: what it covers, what it links, what it leaves empty.</a:t>
            </a:r>
          </a:p>
        </p:txBody>
      </p:sp>
      <p:sp>
        <p:nvSpPr>
          <p:cNvPr id="16" name="Rectangle 15"/>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editor</a:t>
            </a:r>
          </a:p>
        </p:txBody>
      </p:sp>
      <p:sp>
        <p:nvSpPr>
          <p:cNvPr id="18" name="TextBox 17"/>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411"/>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BACKEND</a:t>
            </a:r>
          </a:p>
        </p:txBody>
      </p:sp>
      <p:sp>
        <p:nvSpPr>
          <p:cNvPr id="3" name="TextBox 2"/>
          <p:cNvSpPr txBox="1"/>
          <p:nvPr/>
        </p:nvSpPr>
        <p:spPr>
          <a:xfrm>
            <a:off x="685800" y="841248"/>
            <a:ext cx="6400800" cy="731520"/>
          </a:xfrm>
          <a:prstGeom prst="rect">
            <a:avLst/>
          </a:prstGeom>
          <a:noFill/>
        </p:spPr>
        <p:txBody>
          <a:bodyPr wrap="square" lIns="0" rIns="0" tIns="0" bIns="0" anchor="t">
            <a:spAutoFit/>
          </a:bodyPr>
          <a:lstStyle/>
          <a:p>
            <a:pPr algn="l">
              <a:lnSpc>
                <a:spcPct val="105000"/>
              </a:lnSpc>
            </a:pPr>
            <a:r>
              <a:rPr sz="4000" b="1" i="0">
                <a:solidFill>
                  <a:srgbClr val="FAF5F0"/>
                </a:solidFill>
                <a:latin typeface="Arial"/>
              </a:rPr>
              <a:t>The quiet engine.</a:t>
            </a:r>
          </a:p>
        </p:txBody>
      </p:sp>
      <p:sp>
        <p:nvSpPr>
          <p:cNvPr id="4" name="TextBox 3"/>
          <p:cNvSpPr txBox="1"/>
          <p:nvPr/>
        </p:nvSpPr>
        <p:spPr>
          <a:xfrm>
            <a:off x="685800" y="1874519"/>
            <a:ext cx="45720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01</a:t>
            </a:r>
          </a:p>
        </p:txBody>
      </p:sp>
      <p:sp>
        <p:nvSpPr>
          <p:cNvPr id="5" name="TextBox 4"/>
          <p:cNvSpPr txBox="1"/>
          <p:nvPr/>
        </p:nvSpPr>
        <p:spPr>
          <a:xfrm>
            <a:off x="1188720" y="1874519"/>
            <a:ext cx="2468880" cy="274320"/>
          </a:xfrm>
          <a:prstGeom prst="rect">
            <a:avLst/>
          </a:prstGeom>
          <a:noFill/>
        </p:spPr>
        <p:txBody>
          <a:bodyPr wrap="square" lIns="0" rIns="0" tIns="0" bIns="0" anchor="t">
            <a:spAutoFit/>
          </a:bodyPr>
          <a:lstStyle/>
          <a:p>
            <a:pPr algn="l">
              <a:lnSpc>
                <a:spcPct val="105000"/>
              </a:lnSpc>
            </a:pPr>
            <a:r>
              <a:rPr sz="1300" b="1" i="0">
                <a:solidFill>
                  <a:srgbClr val="FAF5F0"/>
                </a:solidFill>
                <a:latin typeface="Arial"/>
              </a:rPr>
              <a:t>FastAPI /api/v1</a:t>
            </a:r>
          </a:p>
        </p:txBody>
      </p:sp>
      <p:sp>
        <p:nvSpPr>
          <p:cNvPr id="6" name="TextBox 5"/>
          <p:cNvSpPr txBox="1"/>
          <p:nvPr/>
        </p:nvSpPr>
        <p:spPr>
          <a:xfrm>
            <a:off x="3749039" y="1874519"/>
            <a:ext cx="2926080" cy="502920"/>
          </a:xfrm>
          <a:prstGeom prst="rect">
            <a:avLst/>
          </a:prstGeom>
          <a:noFill/>
        </p:spPr>
        <p:txBody>
          <a:bodyPr wrap="square" lIns="0" rIns="0" tIns="0" bIns="0" anchor="t">
            <a:spAutoFit/>
          </a:bodyPr>
          <a:lstStyle/>
          <a:p>
            <a:pPr algn="l">
              <a:lnSpc>
                <a:spcPct val="125000"/>
              </a:lnSpc>
            </a:pPr>
            <a:r>
              <a:rPr sz="950" b="0" i="0">
                <a:solidFill>
                  <a:srgbClr val="B8ABA3"/>
                </a:solidFill>
                <a:latin typeface="Arial"/>
              </a:rPr>
              <a:t>Async Motor, Pydantic v2, typed errors, OpenAPI.</a:t>
            </a:r>
          </a:p>
        </p:txBody>
      </p:sp>
      <p:sp>
        <p:nvSpPr>
          <p:cNvPr id="7" name="TextBox 6"/>
          <p:cNvSpPr txBox="1"/>
          <p:nvPr/>
        </p:nvSpPr>
        <p:spPr>
          <a:xfrm>
            <a:off x="685800" y="2514600"/>
            <a:ext cx="45720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02</a:t>
            </a:r>
          </a:p>
        </p:txBody>
      </p:sp>
      <p:sp>
        <p:nvSpPr>
          <p:cNvPr id="8" name="TextBox 7"/>
          <p:cNvSpPr txBox="1"/>
          <p:nvPr/>
        </p:nvSpPr>
        <p:spPr>
          <a:xfrm>
            <a:off x="1188720" y="2514600"/>
            <a:ext cx="2468880" cy="274320"/>
          </a:xfrm>
          <a:prstGeom prst="rect">
            <a:avLst/>
          </a:prstGeom>
          <a:noFill/>
        </p:spPr>
        <p:txBody>
          <a:bodyPr wrap="square" lIns="0" rIns="0" tIns="0" bIns="0" anchor="t">
            <a:spAutoFit/>
          </a:bodyPr>
          <a:lstStyle/>
          <a:p>
            <a:pPr algn="l">
              <a:lnSpc>
                <a:spcPct val="105000"/>
              </a:lnSpc>
            </a:pPr>
            <a:r>
              <a:rPr sz="1300" b="1" i="0">
                <a:solidFill>
                  <a:srgbClr val="FAF5F0"/>
                </a:solidFill>
                <a:latin typeface="Arial"/>
              </a:rPr>
              <a:t>Clerk resource server</a:t>
            </a:r>
          </a:p>
        </p:txBody>
      </p:sp>
      <p:sp>
        <p:nvSpPr>
          <p:cNvPr id="9" name="TextBox 8"/>
          <p:cNvSpPr txBox="1"/>
          <p:nvPr/>
        </p:nvSpPr>
        <p:spPr>
          <a:xfrm>
            <a:off x="3749039" y="2514600"/>
            <a:ext cx="2926080" cy="502920"/>
          </a:xfrm>
          <a:prstGeom prst="rect">
            <a:avLst/>
          </a:prstGeom>
          <a:noFill/>
        </p:spPr>
        <p:txBody>
          <a:bodyPr wrap="square" lIns="0" rIns="0" tIns="0" bIns="0" anchor="t">
            <a:spAutoFit/>
          </a:bodyPr>
          <a:lstStyle/>
          <a:p>
            <a:pPr algn="l">
              <a:lnSpc>
                <a:spcPct val="125000"/>
              </a:lnSpc>
            </a:pPr>
            <a:r>
              <a:rPr sz="950" b="0" i="0">
                <a:solidFill>
                  <a:srgbClr val="B8ABA3"/>
                </a:solidFill>
                <a:latin typeface="Arial"/>
              </a:rPr>
              <a:t>RS256 verification, roles, lazy profile sync.</a:t>
            </a:r>
          </a:p>
        </p:txBody>
      </p:sp>
      <p:sp>
        <p:nvSpPr>
          <p:cNvPr id="10" name="TextBox 9"/>
          <p:cNvSpPr txBox="1"/>
          <p:nvPr/>
        </p:nvSpPr>
        <p:spPr>
          <a:xfrm>
            <a:off x="685800" y="3154679"/>
            <a:ext cx="45720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03</a:t>
            </a:r>
          </a:p>
        </p:txBody>
      </p:sp>
      <p:sp>
        <p:nvSpPr>
          <p:cNvPr id="11" name="TextBox 10"/>
          <p:cNvSpPr txBox="1"/>
          <p:nvPr/>
        </p:nvSpPr>
        <p:spPr>
          <a:xfrm>
            <a:off x="1188720" y="3154679"/>
            <a:ext cx="2468880" cy="274320"/>
          </a:xfrm>
          <a:prstGeom prst="rect">
            <a:avLst/>
          </a:prstGeom>
          <a:noFill/>
        </p:spPr>
        <p:txBody>
          <a:bodyPr wrap="square" lIns="0" rIns="0" tIns="0" bIns="0" anchor="t">
            <a:spAutoFit/>
          </a:bodyPr>
          <a:lstStyle/>
          <a:p>
            <a:pPr algn="l">
              <a:lnSpc>
                <a:spcPct val="105000"/>
              </a:lnSpc>
            </a:pPr>
            <a:r>
              <a:rPr sz="1300" b="1" i="0">
                <a:solidFill>
                  <a:srgbClr val="FAF5F0"/>
                </a:solidFill>
                <a:latin typeface="Arial"/>
              </a:rPr>
              <a:t>Ingestion</a:t>
            </a:r>
          </a:p>
        </p:txBody>
      </p:sp>
      <p:sp>
        <p:nvSpPr>
          <p:cNvPr id="12" name="TextBox 11"/>
          <p:cNvSpPr txBox="1"/>
          <p:nvPr/>
        </p:nvSpPr>
        <p:spPr>
          <a:xfrm>
            <a:off x="3749039" y="3154679"/>
            <a:ext cx="2926080" cy="502920"/>
          </a:xfrm>
          <a:prstGeom prst="rect">
            <a:avLst/>
          </a:prstGeom>
          <a:noFill/>
        </p:spPr>
        <p:txBody>
          <a:bodyPr wrap="square" lIns="0" rIns="0" tIns="0" bIns="0" anchor="t">
            <a:spAutoFit/>
          </a:bodyPr>
          <a:lstStyle/>
          <a:p>
            <a:pPr algn="l">
              <a:lnSpc>
                <a:spcPct val="125000"/>
              </a:lnSpc>
            </a:pPr>
            <a:r>
              <a:rPr sz="950" b="0" i="0">
                <a:solidFill>
                  <a:srgbClr val="B8ABA3"/>
                </a:solidFill>
                <a:latin typeface="Arial"/>
              </a:rPr>
              <a:t>RSS, trafilatura, language detection, URL dedupe.</a:t>
            </a:r>
          </a:p>
        </p:txBody>
      </p:sp>
      <p:sp>
        <p:nvSpPr>
          <p:cNvPr id="13" name="TextBox 12"/>
          <p:cNvSpPr txBox="1"/>
          <p:nvPr/>
        </p:nvSpPr>
        <p:spPr>
          <a:xfrm>
            <a:off x="685800" y="3794759"/>
            <a:ext cx="45720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04</a:t>
            </a:r>
          </a:p>
        </p:txBody>
      </p:sp>
      <p:sp>
        <p:nvSpPr>
          <p:cNvPr id="14" name="TextBox 13"/>
          <p:cNvSpPr txBox="1"/>
          <p:nvPr/>
        </p:nvSpPr>
        <p:spPr>
          <a:xfrm>
            <a:off x="1188720" y="3794759"/>
            <a:ext cx="2468880" cy="274320"/>
          </a:xfrm>
          <a:prstGeom prst="rect">
            <a:avLst/>
          </a:prstGeom>
          <a:noFill/>
        </p:spPr>
        <p:txBody>
          <a:bodyPr wrap="square" lIns="0" rIns="0" tIns="0" bIns="0" anchor="t">
            <a:spAutoFit/>
          </a:bodyPr>
          <a:lstStyle/>
          <a:p>
            <a:pPr algn="l">
              <a:lnSpc>
                <a:spcPct val="105000"/>
              </a:lnSpc>
            </a:pPr>
            <a:r>
              <a:rPr sz="1300" b="1" i="0">
                <a:solidFill>
                  <a:srgbClr val="FAF5F0"/>
                </a:solidFill>
                <a:latin typeface="Arial"/>
              </a:rPr>
              <a:t>Per-language store</a:t>
            </a:r>
          </a:p>
        </p:txBody>
      </p:sp>
      <p:sp>
        <p:nvSpPr>
          <p:cNvPr id="15" name="TextBox 14"/>
          <p:cNvSpPr txBox="1"/>
          <p:nvPr/>
        </p:nvSpPr>
        <p:spPr>
          <a:xfrm>
            <a:off x="3749039" y="3794759"/>
            <a:ext cx="2926080" cy="502920"/>
          </a:xfrm>
          <a:prstGeom prst="rect">
            <a:avLst/>
          </a:prstGeom>
          <a:noFill/>
        </p:spPr>
        <p:txBody>
          <a:bodyPr wrap="square" lIns="0" rIns="0" tIns="0" bIns="0" anchor="t">
            <a:spAutoFit/>
          </a:bodyPr>
          <a:lstStyle/>
          <a:p>
            <a:pPr algn="l">
              <a:lnSpc>
                <a:spcPct val="125000"/>
              </a:lnSpc>
            </a:pPr>
            <a:r>
              <a:rPr sz="950" b="0" i="0">
                <a:solidFill>
                  <a:srgbClr val="B8ABA3"/>
                </a:solidFill>
                <a:latin typeface="Arial"/>
              </a:rPr>
              <a:t>articles_en … articles_ru; one collection per edition.</a:t>
            </a:r>
          </a:p>
        </p:txBody>
      </p:sp>
      <p:sp>
        <p:nvSpPr>
          <p:cNvPr id="16" name="TextBox 15"/>
          <p:cNvSpPr txBox="1"/>
          <p:nvPr/>
        </p:nvSpPr>
        <p:spPr>
          <a:xfrm>
            <a:off x="685800" y="4434840"/>
            <a:ext cx="45720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05</a:t>
            </a:r>
          </a:p>
        </p:txBody>
      </p:sp>
      <p:sp>
        <p:nvSpPr>
          <p:cNvPr id="17" name="TextBox 16"/>
          <p:cNvSpPr txBox="1"/>
          <p:nvPr/>
        </p:nvSpPr>
        <p:spPr>
          <a:xfrm>
            <a:off x="1188720" y="4434840"/>
            <a:ext cx="2468880" cy="274320"/>
          </a:xfrm>
          <a:prstGeom prst="rect">
            <a:avLst/>
          </a:prstGeom>
          <a:noFill/>
        </p:spPr>
        <p:txBody>
          <a:bodyPr wrap="square" lIns="0" rIns="0" tIns="0" bIns="0" anchor="t">
            <a:spAutoFit/>
          </a:bodyPr>
          <a:lstStyle/>
          <a:p>
            <a:pPr algn="l">
              <a:lnSpc>
                <a:spcPct val="105000"/>
              </a:lnSpc>
            </a:pPr>
            <a:r>
              <a:rPr sz="1300" b="1" i="0">
                <a:solidFill>
                  <a:srgbClr val="FAF5F0"/>
                </a:solidFill>
                <a:latin typeface="Arial"/>
              </a:rPr>
              <a:t>Related news</a:t>
            </a:r>
          </a:p>
        </p:txBody>
      </p:sp>
      <p:sp>
        <p:nvSpPr>
          <p:cNvPr id="18" name="TextBox 17"/>
          <p:cNvSpPr txBox="1"/>
          <p:nvPr/>
        </p:nvSpPr>
        <p:spPr>
          <a:xfrm>
            <a:off x="3749039" y="4434840"/>
            <a:ext cx="2926080" cy="502920"/>
          </a:xfrm>
          <a:prstGeom prst="rect">
            <a:avLst/>
          </a:prstGeom>
          <a:noFill/>
        </p:spPr>
        <p:txBody>
          <a:bodyPr wrap="square" lIns="0" rIns="0" tIns="0" bIns="0" anchor="t">
            <a:spAutoFit/>
          </a:bodyPr>
          <a:lstStyle/>
          <a:p>
            <a:pPr algn="l">
              <a:lnSpc>
                <a:spcPct val="125000"/>
              </a:lnSpc>
            </a:pPr>
            <a:r>
              <a:rPr sz="950" b="0" i="0">
                <a:solidFill>
                  <a:srgbClr val="B8ABA3"/>
                </a:solidFill>
                <a:latin typeface="Arial"/>
              </a:rPr>
              <a:t>Event, topic, branch, meaning, popularity, freshness.</a:t>
            </a:r>
          </a:p>
        </p:txBody>
      </p:sp>
      <p:sp>
        <p:nvSpPr>
          <p:cNvPr id="19" name="Rectangle 18"/>
          <p:cNvSpPr/>
          <p:nvPr/>
        </p:nvSpPr>
        <p:spPr>
          <a:xfrm>
            <a:off x="685800" y="5230368"/>
            <a:ext cx="5943600"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58384"/>
            <a:ext cx="5852160" cy="457200"/>
          </a:xfrm>
          <a:prstGeom prst="rect">
            <a:avLst/>
          </a:prstGeom>
          <a:noFill/>
        </p:spPr>
        <p:txBody>
          <a:bodyPr wrap="square" lIns="0" rIns="0" tIns="0" bIns="0" anchor="t">
            <a:spAutoFit/>
          </a:bodyPr>
          <a:lstStyle/>
          <a:p>
            <a:pPr algn="l">
              <a:lnSpc>
                <a:spcPct val="105000"/>
              </a:lnSpc>
            </a:pPr>
            <a:r>
              <a:rPr sz="950" b="0" i="0">
                <a:solidFill>
                  <a:srgbClr val="FAF5F0"/>
                </a:solidFill>
                <a:latin typeface="Arial"/>
              </a:rPr>
              <a:t>76 backend tests · Ruff + format CI · no live services needed.</a:t>
            </a:r>
          </a:p>
        </p:txBody>
      </p:sp>
      <p:sp>
        <p:nvSpPr>
          <p:cNvPr id="21" name="Rounded Rectangle 20"/>
          <p:cNvSpPr/>
          <p:nvPr/>
        </p:nvSpPr>
        <p:spPr>
          <a:xfrm>
            <a:off x="6858000" y="1737360"/>
            <a:ext cx="4572000" cy="3246120"/>
          </a:xfrm>
          <a:prstGeom prst="roundRect">
            <a:avLst>
              <a:gd name="adj" fmla="val 8000"/>
            </a:avLst>
          </a:prstGeom>
          <a:solidFill>
            <a:srgbClr val="1F3954"/>
          </a:solidFill>
          <a:ln w="7620">
            <a:solidFill>
              <a:srgbClr val="3A51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6600" y="1901952"/>
            <a:ext cx="4114800" cy="274320"/>
          </a:xfrm>
          <a:prstGeom prst="rect">
            <a:avLst/>
          </a:prstGeom>
          <a:noFill/>
        </p:spPr>
        <p:txBody>
          <a:bodyPr wrap="square" lIns="0" rIns="0" tIns="0" bIns="0" anchor="t">
            <a:spAutoFit/>
          </a:bodyPr>
          <a:lstStyle/>
          <a:p>
            <a:pPr algn="l">
              <a:lnSpc>
                <a:spcPct val="105000"/>
              </a:lnSpc>
            </a:pPr>
            <a:r>
              <a:rPr sz="850" b="1" i="0">
                <a:solidFill>
                  <a:srgbClr val="33CC7A"/>
                </a:solidFill>
                <a:latin typeface="Arial"/>
              </a:rPr>
              <a:t>RELATED NEWS, SCORED</a:t>
            </a:r>
          </a:p>
        </p:txBody>
      </p:sp>
      <p:sp>
        <p:nvSpPr>
          <p:cNvPr id="23" name="TextBox 22"/>
          <p:cNvSpPr txBox="1"/>
          <p:nvPr/>
        </p:nvSpPr>
        <p:spPr>
          <a:xfrm>
            <a:off x="7086600" y="2212848"/>
            <a:ext cx="4114800" cy="365760"/>
          </a:xfrm>
          <a:prstGeom prst="rect">
            <a:avLst/>
          </a:prstGeom>
          <a:noFill/>
        </p:spPr>
        <p:txBody>
          <a:bodyPr wrap="square" lIns="0" rIns="0" tIns="0" bIns="0" anchor="t">
            <a:spAutoFit/>
          </a:bodyPr>
          <a:lstStyle/>
          <a:p>
            <a:pPr algn="l">
              <a:lnSpc>
                <a:spcPct val="105000"/>
              </a:lnSpc>
            </a:pPr>
            <a:r>
              <a:rPr sz="1600" b="1" i="0">
                <a:solidFill>
                  <a:srgbClr val="FAF5F0"/>
                </a:solidFill>
                <a:latin typeface="Arial"/>
              </a:rPr>
              <a:t>score =</a:t>
            </a:r>
          </a:p>
        </p:txBody>
      </p:sp>
      <p:sp>
        <p:nvSpPr>
          <p:cNvPr id="24" name="TextBox 23"/>
          <p:cNvSpPr txBox="1"/>
          <p:nvPr/>
        </p:nvSpPr>
        <p:spPr>
          <a:xfrm>
            <a:off x="7086600" y="2670048"/>
            <a:ext cx="548640" cy="274320"/>
          </a:xfrm>
          <a:prstGeom prst="rect">
            <a:avLst/>
          </a:prstGeom>
          <a:noFill/>
        </p:spPr>
        <p:txBody>
          <a:bodyPr wrap="square" lIns="0" rIns="0" tIns="0" bIns="0" anchor="t">
            <a:spAutoFit/>
          </a:bodyPr>
          <a:lstStyle/>
          <a:p>
            <a:pPr algn="l">
              <a:lnSpc>
                <a:spcPct val="105000"/>
              </a:lnSpc>
            </a:pPr>
            <a:r>
              <a:rPr sz="1200" b="1" i="0">
                <a:solidFill>
                  <a:srgbClr val="33CC7A"/>
                </a:solidFill>
                <a:latin typeface="Arial"/>
              </a:rPr>
              <a:t>6</a:t>
            </a:r>
          </a:p>
        </p:txBody>
      </p:sp>
      <p:sp>
        <p:nvSpPr>
          <p:cNvPr id="25" name="TextBox 24"/>
          <p:cNvSpPr txBox="1"/>
          <p:nvPr/>
        </p:nvSpPr>
        <p:spPr>
          <a:xfrm>
            <a:off x="7726679" y="2670048"/>
            <a:ext cx="3383280" cy="27432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same event, another outlet</a:t>
            </a:r>
          </a:p>
        </p:txBody>
      </p:sp>
      <p:sp>
        <p:nvSpPr>
          <p:cNvPr id="26" name="TextBox 25"/>
          <p:cNvSpPr txBox="1"/>
          <p:nvPr/>
        </p:nvSpPr>
        <p:spPr>
          <a:xfrm>
            <a:off x="7086600" y="3054096"/>
            <a:ext cx="548640" cy="274320"/>
          </a:xfrm>
          <a:prstGeom prst="rect">
            <a:avLst/>
          </a:prstGeom>
          <a:noFill/>
        </p:spPr>
        <p:txBody>
          <a:bodyPr wrap="square" lIns="0" rIns="0" tIns="0" bIns="0" anchor="t">
            <a:spAutoFit/>
          </a:bodyPr>
          <a:lstStyle/>
          <a:p>
            <a:pPr algn="l">
              <a:lnSpc>
                <a:spcPct val="105000"/>
              </a:lnSpc>
            </a:pPr>
            <a:r>
              <a:rPr sz="1200" b="1" i="0">
                <a:solidFill>
                  <a:srgbClr val="33CC7A"/>
                </a:solidFill>
                <a:latin typeface="Arial"/>
              </a:rPr>
              <a:t>3</a:t>
            </a:r>
          </a:p>
        </p:txBody>
      </p:sp>
      <p:sp>
        <p:nvSpPr>
          <p:cNvPr id="27" name="TextBox 26"/>
          <p:cNvSpPr txBox="1"/>
          <p:nvPr/>
        </p:nvSpPr>
        <p:spPr>
          <a:xfrm>
            <a:off x="7726679" y="3054096"/>
            <a:ext cx="3383280" cy="27432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shared topic</a:t>
            </a:r>
          </a:p>
        </p:txBody>
      </p:sp>
      <p:sp>
        <p:nvSpPr>
          <p:cNvPr id="28" name="TextBox 27"/>
          <p:cNvSpPr txBox="1"/>
          <p:nvPr/>
        </p:nvSpPr>
        <p:spPr>
          <a:xfrm>
            <a:off x="7086600" y="3438144"/>
            <a:ext cx="548640" cy="274320"/>
          </a:xfrm>
          <a:prstGeom prst="rect">
            <a:avLst/>
          </a:prstGeom>
          <a:noFill/>
        </p:spPr>
        <p:txBody>
          <a:bodyPr wrap="square" lIns="0" rIns="0" tIns="0" bIns="0" anchor="t">
            <a:spAutoFit/>
          </a:bodyPr>
          <a:lstStyle/>
          <a:p>
            <a:pPr algn="l">
              <a:lnSpc>
                <a:spcPct val="105000"/>
              </a:lnSpc>
            </a:pPr>
            <a:r>
              <a:rPr sz="1200" b="1" i="0">
                <a:solidFill>
                  <a:srgbClr val="33CC7A"/>
                </a:solidFill>
                <a:latin typeface="Arial"/>
              </a:rPr>
              <a:t>1.5</a:t>
            </a:r>
          </a:p>
        </p:txBody>
      </p:sp>
      <p:sp>
        <p:nvSpPr>
          <p:cNvPr id="29" name="TextBox 28"/>
          <p:cNvSpPr txBox="1"/>
          <p:nvPr/>
        </p:nvSpPr>
        <p:spPr>
          <a:xfrm>
            <a:off x="7726679" y="3438144"/>
            <a:ext cx="3383280" cy="27432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branch topic</a:t>
            </a:r>
          </a:p>
        </p:txBody>
      </p:sp>
      <p:sp>
        <p:nvSpPr>
          <p:cNvPr id="30" name="TextBox 29"/>
          <p:cNvSpPr txBox="1"/>
          <p:nvPr/>
        </p:nvSpPr>
        <p:spPr>
          <a:xfrm>
            <a:off x="7086600" y="3822191"/>
            <a:ext cx="548640" cy="274320"/>
          </a:xfrm>
          <a:prstGeom prst="rect">
            <a:avLst/>
          </a:prstGeom>
          <a:noFill/>
        </p:spPr>
        <p:txBody>
          <a:bodyPr wrap="square" lIns="0" rIns="0" tIns="0" bIns="0" anchor="t">
            <a:spAutoFit/>
          </a:bodyPr>
          <a:lstStyle/>
          <a:p>
            <a:pPr algn="l">
              <a:lnSpc>
                <a:spcPct val="105000"/>
              </a:lnSpc>
            </a:pPr>
            <a:r>
              <a:rPr sz="1200" b="1" i="0">
                <a:solidFill>
                  <a:srgbClr val="33CC7A"/>
                </a:solidFill>
                <a:latin typeface="Arial"/>
              </a:rPr>
              <a:t>4 ×</a:t>
            </a:r>
          </a:p>
        </p:txBody>
      </p:sp>
      <p:sp>
        <p:nvSpPr>
          <p:cNvPr id="31" name="TextBox 30"/>
          <p:cNvSpPr txBox="1"/>
          <p:nvPr/>
        </p:nvSpPr>
        <p:spPr>
          <a:xfrm>
            <a:off x="7726679" y="3822191"/>
            <a:ext cx="3383280" cy="27432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embedding cosine</a:t>
            </a:r>
          </a:p>
        </p:txBody>
      </p:sp>
      <p:sp>
        <p:nvSpPr>
          <p:cNvPr id="32" name="TextBox 31"/>
          <p:cNvSpPr txBox="1"/>
          <p:nvPr/>
        </p:nvSpPr>
        <p:spPr>
          <a:xfrm>
            <a:off x="7086600" y="4206240"/>
            <a:ext cx="548640" cy="274320"/>
          </a:xfrm>
          <a:prstGeom prst="rect">
            <a:avLst/>
          </a:prstGeom>
          <a:noFill/>
        </p:spPr>
        <p:txBody>
          <a:bodyPr wrap="square" lIns="0" rIns="0" tIns="0" bIns="0" anchor="t">
            <a:spAutoFit/>
          </a:bodyPr>
          <a:lstStyle/>
          <a:p>
            <a:pPr algn="l">
              <a:lnSpc>
                <a:spcPct val="105000"/>
              </a:lnSpc>
            </a:pPr>
            <a:r>
              <a:rPr sz="1200" b="1" i="0">
                <a:solidFill>
                  <a:srgbClr val="33CC7A"/>
                </a:solidFill>
                <a:latin typeface="Arial"/>
              </a:rPr>
              <a:t>+</a:t>
            </a:r>
          </a:p>
        </p:txBody>
      </p:sp>
      <p:sp>
        <p:nvSpPr>
          <p:cNvPr id="33" name="TextBox 32"/>
          <p:cNvSpPr txBox="1"/>
          <p:nvPr/>
        </p:nvSpPr>
        <p:spPr>
          <a:xfrm>
            <a:off x="7726679" y="4206240"/>
            <a:ext cx="3383280" cy="274320"/>
          </a:xfrm>
          <a:prstGeom prst="rect">
            <a:avLst/>
          </a:prstGeom>
          <a:noFill/>
        </p:spPr>
        <p:txBody>
          <a:bodyPr wrap="square" lIns="0" rIns="0" tIns="0" bIns="0" anchor="t">
            <a:spAutoFit/>
          </a:bodyPr>
          <a:lstStyle/>
          <a:p>
            <a:pPr algn="l">
              <a:lnSpc>
                <a:spcPct val="105000"/>
              </a:lnSpc>
            </a:pPr>
            <a:r>
              <a:rPr sz="1050" b="0" i="0">
                <a:solidFill>
                  <a:srgbClr val="FAF5F0"/>
                </a:solidFill>
                <a:latin typeface="Arial"/>
              </a:rPr>
              <a:t>popularity × freshness</a:t>
            </a:r>
          </a:p>
        </p:txBody>
      </p:sp>
      <p:sp>
        <p:nvSpPr>
          <p:cNvPr id="34" name="TextBox 33"/>
          <p:cNvSpPr txBox="1"/>
          <p:nvPr/>
        </p:nvSpPr>
        <p:spPr>
          <a:xfrm>
            <a:off x="7086600" y="4572000"/>
            <a:ext cx="4023360" cy="274320"/>
          </a:xfrm>
          <a:prstGeom prst="rect">
            <a:avLst/>
          </a:prstGeom>
          <a:noFill/>
        </p:spPr>
        <p:txBody>
          <a:bodyPr wrap="square" lIns="0" rIns="0" tIns="0" bIns="0" anchor="t">
            <a:spAutoFit/>
          </a:bodyPr>
          <a:lstStyle/>
          <a:p>
            <a:pPr algn="l">
              <a:lnSpc>
                <a:spcPct val="105000"/>
              </a:lnSpc>
            </a:pPr>
            <a:r>
              <a:rPr sz="1000" b="1" i="0">
                <a:solidFill>
                  <a:srgbClr val="BACDE0"/>
                </a:solidFill>
                <a:latin typeface="Arial"/>
              </a:rPr>
              <a:t>Every result carries its reasons.</a:t>
            </a:r>
          </a:p>
        </p:txBody>
      </p:sp>
      <p:sp>
        <p:nvSpPr>
          <p:cNvPr id="35" name="TextBox 34"/>
          <p:cNvSpPr txBox="1"/>
          <p:nvPr/>
        </p:nvSpPr>
        <p:spPr>
          <a:xfrm>
            <a:off x="685800" y="5897880"/>
            <a:ext cx="10789920" cy="274320"/>
          </a:xfrm>
          <a:prstGeom prst="rect">
            <a:avLst/>
          </a:prstGeom>
          <a:noFill/>
        </p:spPr>
        <p:txBody>
          <a:bodyPr wrap="square" lIns="0" rIns="0" tIns="0" bIns="0" anchor="t">
            <a:spAutoFit/>
          </a:bodyPr>
          <a:lstStyle/>
          <a:p>
            <a:pPr algn="l">
              <a:lnSpc>
                <a:spcPct val="105000"/>
              </a:lnSpc>
            </a:pPr>
            <a:r>
              <a:rPr sz="950" b="0" i="0">
                <a:solidFill>
                  <a:srgbClr val="B8ABA3"/>
                </a:solidFill>
                <a:latin typeface="Arial"/>
              </a:rPr>
              <a:t>The browser asks for a language; the server returns one collection. No client-side data joins.</a:t>
            </a:r>
          </a:p>
        </p:txBody>
      </p:sp>
      <p:sp>
        <p:nvSpPr>
          <p:cNvPr id="36" name="Rectangle 35"/>
          <p:cNvSpPr/>
          <p:nvPr/>
        </p:nvSpPr>
        <p:spPr>
          <a:xfrm>
            <a:off x="685800" y="6419088"/>
            <a:ext cx="10817352"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FAF5F0"/>
                </a:solidFill>
                <a:latin typeface="Arial"/>
              </a:rPr>
              <a:t>KalevaShorts  ·  backend</a:t>
            </a:r>
          </a:p>
        </p:txBody>
      </p:sp>
      <p:sp>
        <p:nvSpPr>
          <p:cNvPr id="38" name="TextBox 37"/>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FAF5F0"/>
                </a:solidFill>
                <a:latin typeface="Arial"/>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F0"/>
        </a:solidFill>
        <a:effectLst/>
      </p:bgPr>
    </p:bg>
    <p:spTree>
      <p:nvGrpSpPr>
        <p:cNvPr id="1" name=""/>
        <p:cNvGrpSpPr/>
        <p:nvPr/>
      </p:nvGrpSpPr>
      <p:grpSpPr/>
      <p:sp>
        <p:nvSpPr>
          <p:cNvPr id="2" name="TextBox 1"/>
          <p:cNvSpPr txBox="1"/>
          <p:nvPr/>
        </p:nvSpPr>
        <p:spPr>
          <a:xfrm>
            <a:off x="685800" y="502920"/>
            <a:ext cx="45720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AGENTIC NEWSROOM</a:t>
            </a:r>
          </a:p>
        </p:txBody>
      </p:sp>
      <p:sp>
        <p:nvSpPr>
          <p:cNvPr id="3" name="TextBox 2"/>
          <p:cNvSpPr txBox="1"/>
          <p:nvPr/>
        </p:nvSpPr>
        <p:spPr>
          <a:xfrm>
            <a:off x="685800" y="841248"/>
            <a:ext cx="10607040" cy="822960"/>
          </a:xfrm>
          <a:prstGeom prst="rect">
            <a:avLst/>
          </a:prstGeom>
          <a:noFill/>
        </p:spPr>
        <p:txBody>
          <a:bodyPr wrap="square" lIns="0" rIns="0" tIns="0" bIns="0" anchor="t">
            <a:spAutoFit/>
          </a:bodyPr>
          <a:lstStyle/>
          <a:p>
            <a:pPr algn="l">
              <a:lnSpc>
                <a:spcPct val="102000"/>
              </a:lnSpc>
            </a:pPr>
            <a:r>
              <a:rPr sz="3800" b="1" i="0">
                <a:solidFill>
                  <a:srgbClr val="1B1411"/>
                </a:solidFill>
                <a:latin typeface="Arial"/>
              </a:rPr>
              <a:t>Agents do the work.
People hold the gate.</a:t>
            </a:r>
          </a:p>
        </p:txBody>
      </p:sp>
      <p:sp>
        <p:nvSpPr>
          <p:cNvPr id="4" name="Rounded Rectangle 3"/>
          <p:cNvSpPr/>
          <p:nvPr/>
        </p:nvSpPr>
        <p:spPr>
          <a:xfrm>
            <a:off x="685800" y="2240280"/>
            <a:ext cx="1920240" cy="566928"/>
          </a:xfrm>
          <a:prstGeom prst="roundRect">
            <a:avLst>
              <a:gd name="adj" fmla="val 8000"/>
            </a:avLst>
          </a:prstGeom>
          <a:solidFill>
            <a:srgbClr val="FAF5F0"/>
          </a:solidFill>
          <a:ln w="9525">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Monitor</a:t>
            </a:r>
          </a:p>
        </p:txBody>
      </p:sp>
      <p:sp>
        <p:nvSpPr>
          <p:cNvPr id="5" name="Right Arrow 4"/>
          <p:cNvSpPr/>
          <p:nvPr/>
        </p:nvSpPr>
        <p:spPr>
          <a:xfrm>
            <a:off x="2624328" y="242316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98648" y="2240280"/>
            <a:ext cx="1920240" cy="566928"/>
          </a:xfrm>
          <a:prstGeom prst="roundRect">
            <a:avLst>
              <a:gd name="adj" fmla="val 8000"/>
            </a:avLst>
          </a:prstGeom>
          <a:solidFill>
            <a:srgbClr val="FAF5F0"/>
          </a:solidFill>
          <a:ln w="9525">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Architect</a:t>
            </a:r>
          </a:p>
        </p:txBody>
      </p:sp>
      <p:sp>
        <p:nvSpPr>
          <p:cNvPr id="7" name="Right Arrow 6"/>
          <p:cNvSpPr/>
          <p:nvPr/>
        </p:nvSpPr>
        <p:spPr>
          <a:xfrm>
            <a:off x="4837176" y="242316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11496" y="2240280"/>
            <a:ext cx="1920240" cy="566928"/>
          </a:xfrm>
          <a:prstGeom prst="roundRect">
            <a:avLst>
              <a:gd name="adj" fmla="val 8000"/>
            </a:avLst>
          </a:prstGeom>
          <a:solidFill>
            <a:srgbClr val="FAF5F0"/>
          </a:solidFill>
          <a:ln w="9525">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Editor</a:t>
            </a:r>
          </a:p>
        </p:txBody>
      </p:sp>
      <p:sp>
        <p:nvSpPr>
          <p:cNvPr id="9" name="Right Arrow 8"/>
          <p:cNvSpPr/>
          <p:nvPr/>
        </p:nvSpPr>
        <p:spPr>
          <a:xfrm>
            <a:off x="7050024" y="242316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24344" y="2240280"/>
            <a:ext cx="1920240" cy="566928"/>
          </a:xfrm>
          <a:prstGeom prst="roundRect">
            <a:avLst>
              <a:gd name="adj" fmla="val 8000"/>
            </a:avLst>
          </a:prstGeom>
          <a:solidFill>
            <a:srgbClr val="FAF5F0"/>
          </a:solidFill>
          <a:ln w="9525">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Investigator</a:t>
            </a:r>
          </a:p>
        </p:txBody>
      </p:sp>
      <p:sp>
        <p:nvSpPr>
          <p:cNvPr id="11" name="Right Arrow 10"/>
          <p:cNvSpPr/>
          <p:nvPr/>
        </p:nvSpPr>
        <p:spPr>
          <a:xfrm>
            <a:off x="9262872" y="242316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37192" y="2240280"/>
            <a:ext cx="1920240" cy="566928"/>
          </a:xfrm>
          <a:prstGeom prst="roundRect">
            <a:avLst>
              <a:gd name="adj" fmla="val 8000"/>
            </a:avLst>
          </a:prstGeom>
          <a:solidFill>
            <a:srgbClr val="FAF5F0"/>
          </a:solidFill>
          <a:ln w="9525">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Explainer</a:t>
            </a:r>
          </a:p>
        </p:txBody>
      </p:sp>
      <p:sp>
        <p:nvSpPr>
          <p:cNvPr id="13" name="Rounded Rectangle 12"/>
          <p:cNvSpPr/>
          <p:nvPr/>
        </p:nvSpPr>
        <p:spPr>
          <a:xfrm>
            <a:off x="685800" y="3246120"/>
            <a:ext cx="1920240" cy="566928"/>
          </a:xfrm>
          <a:prstGeom prst="roundRect">
            <a:avLst>
              <a:gd name="adj" fmla="val 8000"/>
            </a:avLst>
          </a:prstGeom>
          <a:solidFill>
            <a:srgbClr val="FAF5F0"/>
          </a:solidFill>
          <a:ln w="7620">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Translator</a:t>
            </a:r>
          </a:p>
        </p:txBody>
      </p:sp>
      <p:sp>
        <p:nvSpPr>
          <p:cNvPr id="14" name="Right Arrow 13"/>
          <p:cNvSpPr/>
          <p:nvPr/>
        </p:nvSpPr>
        <p:spPr>
          <a:xfrm>
            <a:off x="2624328" y="342900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98648" y="3246120"/>
            <a:ext cx="1920240" cy="566928"/>
          </a:xfrm>
          <a:prstGeom prst="roundRect">
            <a:avLst>
              <a:gd name="adj" fmla="val 8000"/>
            </a:avLst>
          </a:prstGeom>
          <a:solidFill>
            <a:srgbClr val="FAF5F0"/>
          </a:solidFill>
          <a:ln w="7620">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Standards</a:t>
            </a:r>
          </a:p>
        </p:txBody>
      </p:sp>
      <p:sp>
        <p:nvSpPr>
          <p:cNvPr id="16" name="Right Arrow 15"/>
          <p:cNvSpPr/>
          <p:nvPr/>
        </p:nvSpPr>
        <p:spPr>
          <a:xfrm>
            <a:off x="4837176" y="3429000"/>
            <a:ext cx="219456" cy="182880"/>
          </a:xfrm>
          <a:prstGeom prst="rightArrow">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11496" y="3246120"/>
            <a:ext cx="1920240" cy="566928"/>
          </a:xfrm>
          <a:prstGeom prst="roundRect">
            <a:avLst>
              <a:gd name="adj" fmla="val 8000"/>
            </a:avLst>
          </a:prstGeom>
          <a:solidFill>
            <a:srgbClr val="33CC7A"/>
          </a:solidFill>
          <a:ln w="15240">
            <a:solidFill>
              <a:srgbClr val="33CC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HUMAN GATE</a:t>
            </a:r>
          </a:p>
        </p:txBody>
      </p:sp>
      <p:sp>
        <p:nvSpPr>
          <p:cNvPr id="18" name="Right Arrow 17"/>
          <p:cNvSpPr/>
          <p:nvPr/>
        </p:nvSpPr>
        <p:spPr>
          <a:xfrm>
            <a:off x="7050024" y="3429000"/>
            <a:ext cx="219456" cy="182880"/>
          </a:xfrm>
          <a:prstGeom prst="rightArrow">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24344" y="3246120"/>
            <a:ext cx="1920240" cy="566928"/>
          </a:xfrm>
          <a:prstGeom prst="roundRect">
            <a:avLst>
              <a:gd name="adj" fmla="val 8000"/>
            </a:avLst>
          </a:prstGeom>
          <a:solidFill>
            <a:srgbClr val="FAF5F0"/>
          </a:solidFill>
          <a:ln w="7620">
            <a:solidFill>
              <a:srgbClr val="1B14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1">
                <a:solidFill>
                  <a:srgbClr val="1B1411"/>
                </a:solidFill>
                <a:latin typeface="Arial"/>
              </a:rPr>
              <a:t>Distributor</a:t>
            </a:r>
          </a:p>
        </p:txBody>
      </p:sp>
      <p:sp>
        <p:nvSpPr>
          <p:cNvPr id="20" name="Rectangle 19"/>
          <p:cNvSpPr/>
          <p:nvPr/>
        </p:nvSpPr>
        <p:spPr>
          <a:xfrm>
            <a:off x="685800" y="4224528"/>
            <a:ext cx="1083564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434840"/>
            <a:ext cx="1645920" cy="320040"/>
          </a:xfrm>
          <a:prstGeom prst="rect">
            <a:avLst/>
          </a:prstGeom>
          <a:noFill/>
        </p:spPr>
        <p:txBody>
          <a:bodyPr wrap="square" lIns="0" rIns="0" tIns="0" bIns="0" anchor="t">
            <a:spAutoFit/>
          </a:bodyPr>
          <a:lstStyle/>
          <a:p>
            <a:pPr algn="l">
              <a:lnSpc>
                <a:spcPct val="105000"/>
              </a:lnSpc>
            </a:pPr>
            <a:r>
              <a:rPr sz="1400" b="1" i="0">
                <a:solidFill>
                  <a:srgbClr val="33CC7A"/>
                </a:solidFill>
                <a:latin typeface="Arial"/>
              </a:rPr>
              <a:t>9</a:t>
            </a:r>
          </a:p>
        </p:txBody>
      </p:sp>
      <p:sp>
        <p:nvSpPr>
          <p:cNvPr id="22" name="TextBox 21"/>
          <p:cNvSpPr txBox="1"/>
          <p:nvPr/>
        </p:nvSpPr>
        <p:spPr>
          <a:xfrm>
            <a:off x="2103120" y="4453127"/>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newsroom roles</a:t>
            </a:r>
          </a:p>
        </p:txBody>
      </p:sp>
      <p:sp>
        <p:nvSpPr>
          <p:cNvPr id="23" name="TextBox 22"/>
          <p:cNvSpPr txBox="1"/>
          <p:nvPr/>
        </p:nvSpPr>
        <p:spPr>
          <a:xfrm>
            <a:off x="4343400" y="4434840"/>
            <a:ext cx="1645920" cy="320040"/>
          </a:xfrm>
          <a:prstGeom prst="rect">
            <a:avLst/>
          </a:prstGeom>
          <a:noFill/>
        </p:spPr>
        <p:txBody>
          <a:bodyPr wrap="square" lIns="0" rIns="0" tIns="0" bIns="0" anchor="t">
            <a:spAutoFit/>
          </a:bodyPr>
          <a:lstStyle/>
          <a:p>
            <a:pPr algn="l">
              <a:lnSpc>
                <a:spcPct val="105000"/>
              </a:lnSpc>
            </a:pPr>
            <a:r>
              <a:rPr sz="1400" b="1" i="0">
                <a:solidFill>
                  <a:srgbClr val="1B1411"/>
                </a:solidFill>
                <a:latin typeface="Arial"/>
              </a:rPr>
              <a:t>LangGraph</a:t>
            </a:r>
          </a:p>
        </p:txBody>
      </p:sp>
      <p:sp>
        <p:nvSpPr>
          <p:cNvPr id="24" name="TextBox 23"/>
          <p:cNvSpPr txBox="1"/>
          <p:nvPr/>
        </p:nvSpPr>
        <p:spPr>
          <a:xfrm>
            <a:off x="5760720" y="4453127"/>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checkpointed workflow</a:t>
            </a:r>
          </a:p>
        </p:txBody>
      </p:sp>
      <p:sp>
        <p:nvSpPr>
          <p:cNvPr id="25" name="TextBox 24"/>
          <p:cNvSpPr txBox="1"/>
          <p:nvPr/>
        </p:nvSpPr>
        <p:spPr>
          <a:xfrm>
            <a:off x="8001000" y="4434840"/>
            <a:ext cx="1645920" cy="320040"/>
          </a:xfrm>
          <a:prstGeom prst="rect">
            <a:avLst/>
          </a:prstGeom>
          <a:noFill/>
        </p:spPr>
        <p:txBody>
          <a:bodyPr wrap="square" lIns="0" rIns="0" tIns="0" bIns="0" anchor="t">
            <a:spAutoFit/>
          </a:bodyPr>
          <a:lstStyle/>
          <a:p>
            <a:pPr algn="l">
              <a:lnSpc>
                <a:spcPct val="105000"/>
              </a:lnSpc>
            </a:pPr>
            <a:r>
              <a:rPr sz="1400" b="1" i="0">
                <a:solidFill>
                  <a:srgbClr val="33CC7A"/>
                </a:solidFill>
                <a:latin typeface="Arial"/>
              </a:rPr>
              <a:t>Every step</a:t>
            </a:r>
          </a:p>
        </p:txBody>
      </p:sp>
      <p:sp>
        <p:nvSpPr>
          <p:cNvPr id="26" name="TextBox 25"/>
          <p:cNvSpPr txBox="1"/>
          <p:nvPr/>
        </p:nvSpPr>
        <p:spPr>
          <a:xfrm>
            <a:off x="9418320" y="4453127"/>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audited with a reason</a:t>
            </a:r>
          </a:p>
        </p:txBody>
      </p:sp>
      <p:sp>
        <p:nvSpPr>
          <p:cNvPr id="27" name="TextBox 26"/>
          <p:cNvSpPr txBox="1"/>
          <p:nvPr/>
        </p:nvSpPr>
        <p:spPr>
          <a:xfrm>
            <a:off x="685800" y="5148072"/>
            <a:ext cx="1645920" cy="320040"/>
          </a:xfrm>
          <a:prstGeom prst="rect">
            <a:avLst/>
          </a:prstGeom>
          <a:noFill/>
        </p:spPr>
        <p:txBody>
          <a:bodyPr wrap="square" lIns="0" rIns="0" tIns="0" bIns="0" anchor="t">
            <a:spAutoFit/>
          </a:bodyPr>
          <a:lstStyle/>
          <a:p>
            <a:pPr algn="l">
              <a:lnSpc>
                <a:spcPct val="105000"/>
              </a:lnSpc>
            </a:pPr>
            <a:r>
              <a:rPr sz="1400" b="1" i="0">
                <a:solidFill>
                  <a:srgbClr val="1B1411"/>
                </a:solidFill>
                <a:latin typeface="Arial"/>
              </a:rPr>
              <a:t>Bounded</a:t>
            </a:r>
          </a:p>
        </p:txBody>
      </p:sp>
      <p:sp>
        <p:nvSpPr>
          <p:cNvPr id="28" name="TextBox 27"/>
          <p:cNvSpPr txBox="1"/>
          <p:nvPr/>
        </p:nvSpPr>
        <p:spPr>
          <a:xfrm>
            <a:off x="2103120" y="5166359"/>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investigation + revision</a:t>
            </a:r>
          </a:p>
        </p:txBody>
      </p:sp>
      <p:sp>
        <p:nvSpPr>
          <p:cNvPr id="29" name="TextBox 28"/>
          <p:cNvSpPr txBox="1"/>
          <p:nvPr/>
        </p:nvSpPr>
        <p:spPr>
          <a:xfrm>
            <a:off x="4343400" y="5148072"/>
            <a:ext cx="1645920" cy="320040"/>
          </a:xfrm>
          <a:prstGeom prst="rect">
            <a:avLst/>
          </a:prstGeom>
          <a:noFill/>
        </p:spPr>
        <p:txBody>
          <a:bodyPr wrap="square" lIns="0" rIns="0" tIns="0" bIns="0" anchor="t">
            <a:spAutoFit/>
          </a:bodyPr>
          <a:lstStyle/>
          <a:p>
            <a:pPr algn="l">
              <a:lnSpc>
                <a:spcPct val="105000"/>
              </a:lnSpc>
            </a:pPr>
            <a:r>
              <a:rPr sz="1400" b="1" i="0">
                <a:solidFill>
                  <a:srgbClr val="33CC7A"/>
                </a:solidFill>
                <a:latin typeface="Arial"/>
              </a:rPr>
              <a:t>Guarded</a:t>
            </a:r>
          </a:p>
        </p:txBody>
      </p:sp>
      <p:sp>
        <p:nvSpPr>
          <p:cNvPr id="30" name="TextBox 29"/>
          <p:cNvSpPr txBox="1"/>
          <p:nvPr/>
        </p:nvSpPr>
        <p:spPr>
          <a:xfrm>
            <a:off x="5760720" y="5166359"/>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untrusted text, prompt injection</a:t>
            </a:r>
          </a:p>
        </p:txBody>
      </p:sp>
      <p:sp>
        <p:nvSpPr>
          <p:cNvPr id="31" name="TextBox 30"/>
          <p:cNvSpPr txBox="1"/>
          <p:nvPr/>
        </p:nvSpPr>
        <p:spPr>
          <a:xfrm>
            <a:off x="8001000" y="5148072"/>
            <a:ext cx="1645920" cy="320040"/>
          </a:xfrm>
          <a:prstGeom prst="rect">
            <a:avLst/>
          </a:prstGeom>
          <a:noFill/>
        </p:spPr>
        <p:txBody>
          <a:bodyPr wrap="square" lIns="0" rIns="0" tIns="0" bIns="0" anchor="t">
            <a:spAutoFit/>
          </a:bodyPr>
          <a:lstStyle/>
          <a:p>
            <a:pPr algn="l">
              <a:lnSpc>
                <a:spcPct val="105000"/>
              </a:lnSpc>
            </a:pPr>
            <a:r>
              <a:rPr sz="1400" b="1" i="0">
                <a:solidFill>
                  <a:srgbClr val="1B1411"/>
                </a:solidFill>
                <a:latin typeface="Arial"/>
              </a:rPr>
              <a:t>Human-only</a:t>
            </a:r>
          </a:p>
        </p:txBody>
      </p:sp>
      <p:sp>
        <p:nvSpPr>
          <p:cNvPr id="32" name="TextBox 31"/>
          <p:cNvSpPr txBox="1"/>
          <p:nvPr/>
        </p:nvSpPr>
        <p:spPr>
          <a:xfrm>
            <a:off x="9418320" y="5166359"/>
            <a:ext cx="2011680" cy="320040"/>
          </a:xfrm>
          <a:prstGeom prst="rect">
            <a:avLst/>
          </a:prstGeom>
          <a:noFill/>
        </p:spPr>
        <p:txBody>
          <a:bodyPr wrap="square" lIns="0" rIns="0" tIns="0" bIns="0" anchor="t">
            <a:spAutoFit/>
          </a:bodyPr>
          <a:lstStyle/>
          <a:p>
            <a:pPr algn="l">
              <a:lnSpc>
                <a:spcPct val="105000"/>
              </a:lnSpc>
            </a:pPr>
            <a:r>
              <a:rPr sz="950" b="0" i="0">
                <a:solidFill>
                  <a:srgbClr val="66574F"/>
                </a:solidFill>
                <a:latin typeface="Arial"/>
              </a:rPr>
              <a:t>Sámi text + the final publish</a:t>
            </a:r>
          </a:p>
        </p:txBody>
      </p:sp>
      <p:sp>
        <p:nvSpPr>
          <p:cNvPr id="33" name="TextBox 32"/>
          <p:cNvSpPr txBox="1"/>
          <p:nvPr/>
        </p:nvSpPr>
        <p:spPr>
          <a:xfrm>
            <a:off x="685800" y="5943600"/>
            <a:ext cx="10789920" cy="320040"/>
          </a:xfrm>
          <a:prstGeom prst="rect">
            <a:avLst/>
          </a:prstGeom>
          <a:noFill/>
        </p:spPr>
        <p:txBody>
          <a:bodyPr wrap="square" lIns="0" rIns="0" tIns="0" bIns="0" anchor="t">
            <a:spAutoFit/>
          </a:bodyPr>
          <a:lstStyle/>
          <a:p>
            <a:pPr algn="l">
              <a:lnSpc>
                <a:spcPct val="105000"/>
              </a:lnSpc>
            </a:pPr>
            <a:r>
              <a:rPr sz="1200" b="1" i="0">
                <a:solidFill>
                  <a:srgbClr val="1B1411"/>
                </a:solidFill>
                <a:latin typeface="Arial"/>
              </a:rPr>
              <a:t>Only a named person can publish. The agents can propose; they can never approve.</a:t>
            </a:r>
          </a:p>
        </p:txBody>
      </p:sp>
      <p:sp>
        <p:nvSpPr>
          <p:cNvPr id="34" name="Rectangle 33"/>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agentic newsroom</a:t>
            </a:r>
          </a:p>
        </p:txBody>
      </p:sp>
      <p:sp>
        <p:nvSpPr>
          <p:cNvPr id="36" name="TextBox 35"/>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33CC7A"/>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1B1411"/>
                </a:solidFill>
                <a:latin typeface="Arial"/>
              </a:rPr>
              <a:t>TRUST</a:t>
            </a:r>
          </a:p>
        </p:txBody>
      </p:sp>
      <p:sp>
        <p:nvSpPr>
          <p:cNvPr id="3" name="TextBox 2"/>
          <p:cNvSpPr txBox="1"/>
          <p:nvPr/>
        </p:nvSpPr>
        <p:spPr>
          <a:xfrm>
            <a:off x="685800" y="841248"/>
            <a:ext cx="9692640" cy="822960"/>
          </a:xfrm>
          <a:prstGeom prst="rect">
            <a:avLst/>
          </a:prstGeom>
          <a:noFill/>
        </p:spPr>
        <p:txBody>
          <a:bodyPr wrap="square" lIns="0" rIns="0" tIns="0" bIns="0" anchor="t">
            <a:spAutoFit/>
          </a:bodyPr>
          <a:lstStyle/>
          <a:p>
            <a:pPr algn="l">
              <a:lnSpc>
                <a:spcPct val="100000"/>
              </a:lnSpc>
            </a:pPr>
            <a:r>
              <a:rPr sz="4000" b="1" i="0">
                <a:solidFill>
                  <a:srgbClr val="1B1411"/>
                </a:solidFill>
                <a:latin typeface="Arial"/>
              </a:rPr>
              <a:t>Trust is a workflow,
not a banner.</a:t>
            </a:r>
          </a:p>
        </p:txBody>
      </p:sp>
      <p:sp>
        <p:nvSpPr>
          <p:cNvPr id="4" name="Rectangle 3"/>
          <p:cNvSpPr/>
          <p:nvPr/>
        </p:nvSpPr>
        <p:spPr>
          <a:xfrm>
            <a:off x="685800" y="2240280"/>
            <a:ext cx="10789920" cy="7315"/>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68296"/>
            <a:ext cx="502920" cy="274320"/>
          </a:xfrm>
          <a:prstGeom prst="rect">
            <a:avLst/>
          </a:prstGeom>
          <a:noFill/>
        </p:spPr>
        <p:txBody>
          <a:bodyPr wrap="square" lIns="0" rIns="0" tIns="0" bIns="0" anchor="t">
            <a:spAutoFit/>
          </a:bodyPr>
          <a:lstStyle/>
          <a:p>
            <a:pPr algn="l">
              <a:lnSpc>
                <a:spcPct val="105000"/>
              </a:lnSpc>
            </a:pPr>
            <a:r>
              <a:rPr sz="900" b="1" i="0">
                <a:solidFill>
                  <a:srgbClr val="1B1411"/>
                </a:solidFill>
                <a:latin typeface="Arial"/>
              </a:rPr>
              <a:t>01</a:t>
            </a:r>
          </a:p>
        </p:txBody>
      </p:sp>
      <p:sp>
        <p:nvSpPr>
          <p:cNvPr id="6" name="TextBox 5"/>
          <p:cNvSpPr txBox="1"/>
          <p:nvPr/>
        </p:nvSpPr>
        <p:spPr>
          <a:xfrm>
            <a:off x="1325880" y="2350008"/>
            <a:ext cx="2834640" cy="292608"/>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Named approvals</a:t>
            </a:r>
          </a:p>
        </p:txBody>
      </p:sp>
      <p:sp>
        <p:nvSpPr>
          <p:cNvPr id="7" name="TextBox 6"/>
          <p:cNvSpPr txBox="1"/>
          <p:nvPr/>
        </p:nvSpPr>
        <p:spPr>
          <a:xfrm>
            <a:off x="4343400" y="2368296"/>
            <a:ext cx="7040880" cy="50292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Editor-in-chief, language reviewer, community reviewer, subject expert. A name, not a role label.</a:t>
            </a:r>
          </a:p>
        </p:txBody>
      </p:sp>
      <p:sp>
        <p:nvSpPr>
          <p:cNvPr id="8" name="Rectangle 7"/>
          <p:cNvSpPr/>
          <p:nvPr/>
        </p:nvSpPr>
        <p:spPr>
          <a:xfrm>
            <a:off x="685800" y="3081528"/>
            <a:ext cx="10789920" cy="7315"/>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209544"/>
            <a:ext cx="502920" cy="274320"/>
          </a:xfrm>
          <a:prstGeom prst="rect">
            <a:avLst/>
          </a:prstGeom>
          <a:noFill/>
        </p:spPr>
        <p:txBody>
          <a:bodyPr wrap="square" lIns="0" rIns="0" tIns="0" bIns="0" anchor="t">
            <a:spAutoFit/>
          </a:bodyPr>
          <a:lstStyle/>
          <a:p>
            <a:pPr algn="l">
              <a:lnSpc>
                <a:spcPct val="105000"/>
              </a:lnSpc>
            </a:pPr>
            <a:r>
              <a:rPr sz="900" b="1" i="0">
                <a:solidFill>
                  <a:srgbClr val="1B1411"/>
                </a:solidFill>
                <a:latin typeface="Arial"/>
              </a:rPr>
              <a:t>02</a:t>
            </a:r>
          </a:p>
        </p:txBody>
      </p:sp>
      <p:sp>
        <p:nvSpPr>
          <p:cNvPr id="10" name="TextBox 9"/>
          <p:cNvSpPr txBox="1"/>
          <p:nvPr/>
        </p:nvSpPr>
        <p:spPr>
          <a:xfrm>
            <a:off x="1325880" y="3191256"/>
            <a:ext cx="2834640" cy="292608"/>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Risk tiers</a:t>
            </a:r>
          </a:p>
        </p:txBody>
      </p:sp>
      <p:sp>
        <p:nvSpPr>
          <p:cNvPr id="11" name="TextBox 10"/>
          <p:cNvSpPr txBox="1"/>
          <p:nvPr/>
        </p:nvSpPr>
        <p:spPr>
          <a:xfrm>
            <a:off x="4343400" y="3209544"/>
            <a:ext cx="7040880" cy="50292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Permits, health, work and legal rights need extra reviewers by policy.</a:t>
            </a:r>
          </a:p>
        </p:txBody>
      </p:sp>
      <p:sp>
        <p:nvSpPr>
          <p:cNvPr id="12" name="Rectangle 11"/>
          <p:cNvSpPr/>
          <p:nvPr/>
        </p:nvSpPr>
        <p:spPr>
          <a:xfrm>
            <a:off x="685800" y="3922776"/>
            <a:ext cx="10789920" cy="7315"/>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50791"/>
            <a:ext cx="502920" cy="274320"/>
          </a:xfrm>
          <a:prstGeom prst="rect">
            <a:avLst/>
          </a:prstGeom>
          <a:noFill/>
        </p:spPr>
        <p:txBody>
          <a:bodyPr wrap="square" lIns="0" rIns="0" tIns="0" bIns="0" anchor="t">
            <a:spAutoFit/>
          </a:bodyPr>
          <a:lstStyle/>
          <a:p>
            <a:pPr algn="l">
              <a:lnSpc>
                <a:spcPct val="105000"/>
              </a:lnSpc>
            </a:pPr>
            <a:r>
              <a:rPr sz="900" b="1" i="0">
                <a:solidFill>
                  <a:srgbClr val="1B1411"/>
                </a:solidFill>
                <a:latin typeface="Arial"/>
              </a:rPr>
              <a:t>03</a:t>
            </a:r>
          </a:p>
        </p:txBody>
      </p:sp>
      <p:sp>
        <p:nvSpPr>
          <p:cNvPr id="14" name="TextBox 13"/>
          <p:cNvSpPr txBox="1"/>
          <p:nvPr/>
        </p:nvSpPr>
        <p:spPr>
          <a:xfrm>
            <a:off x="1325880" y="4032504"/>
            <a:ext cx="2834640" cy="292608"/>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Corrections</a:t>
            </a:r>
          </a:p>
        </p:txBody>
      </p:sp>
      <p:sp>
        <p:nvSpPr>
          <p:cNvPr id="15" name="TextBox 14"/>
          <p:cNvSpPr txBox="1"/>
          <p:nvPr/>
        </p:nvSpPr>
        <p:spPr>
          <a:xfrm>
            <a:off x="4343400" y="4050791"/>
            <a:ext cx="7040880" cy="50292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Public, named and attached to the story; the JSN guidelines become code checks.</a:t>
            </a:r>
          </a:p>
        </p:txBody>
      </p:sp>
      <p:sp>
        <p:nvSpPr>
          <p:cNvPr id="16" name="Rectangle 15"/>
          <p:cNvSpPr/>
          <p:nvPr/>
        </p:nvSpPr>
        <p:spPr>
          <a:xfrm>
            <a:off x="685800" y="4764024"/>
            <a:ext cx="10789920" cy="7315"/>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892040"/>
            <a:ext cx="502920" cy="274320"/>
          </a:xfrm>
          <a:prstGeom prst="rect">
            <a:avLst/>
          </a:prstGeom>
          <a:noFill/>
        </p:spPr>
        <p:txBody>
          <a:bodyPr wrap="square" lIns="0" rIns="0" tIns="0" bIns="0" anchor="t">
            <a:spAutoFit/>
          </a:bodyPr>
          <a:lstStyle/>
          <a:p>
            <a:pPr algn="l">
              <a:lnSpc>
                <a:spcPct val="105000"/>
              </a:lnSpc>
            </a:pPr>
            <a:r>
              <a:rPr sz="900" b="1" i="0">
                <a:solidFill>
                  <a:srgbClr val="1B1411"/>
                </a:solidFill>
                <a:latin typeface="Arial"/>
              </a:rPr>
              <a:t>04</a:t>
            </a:r>
          </a:p>
        </p:txBody>
      </p:sp>
      <p:sp>
        <p:nvSpPr>
          <p:cNvPr id="18" name="TextBox 17"/>
          <p:cNvSpPr txBox="1"/>
          <p:nvPr/>
        </p:nvSpPr>
        <p:spPr>
          <a:xfrm>
            <a:off x="1325880" y="4873752"/>
            <a:ext cx="2834640" cy="292608"/>
          </a:xfrm>
          <a:prstGeom prst="rect">
            <a:avLst/>
          </a:prstGeom>
          <a:noFill/>
        </p:spPr>
        <p:txBody>
          <a:bodyPr wrap="square" lIns="0" rIns="0" tIns="0" bIns="0" anchor="t">
            <a:spAutoFit/>
          </a:bodyPr>
          <a:lstStyle/>
          <a:p>
            <a:pPr algn="l">
              <a:lnSpc>
                <a:spcPct val="105000"/>
              </a:lnSpc>
            </a:pPr>
            <a:r>
              <a:rPr sz="1500" b="1" i="0">
                <a:solidFill>
                  <a:srgbClr val="1B1411"/>
                </a:solidFill>
                <a:latin typeface="Arial"/>
              </a:rPr>
              <a:t>Sourcing</a:t>
            </a:r>
          </a:p>
        </p:txBody>
      </p:sp>
      <p:sp>
        <p:nvSpPr>
          <p:cNvPr id="19" name="TextBox 18"/>
          <p:cNvSpPr txBox="1"/>
          <p:nvPr/>
        </p:nvSpPr>
        <p:spPr>
          <a:xfrm>
            <a:off x="4343400" y="4892040"/>
            <a:ext cx="7040880" cy="502920"/>
          </a:xfrm>
          <a:prstGeom prst="rect">
            <a:avLst/>
          </a:prstGeom>
          <a:noFill/>
        </p:spPr>
        <p:txBody>
          <a:bodyPr wrap="square" lIns="0" rIns="0" tIns="0" bIns="0" anchor="t">
            <a:spAutoFit/>
          </a:bodyPr>
          <a:lstStyle/>
          <a:p>
            <a:pPr algn="l">
              <a:lnSpc>
                <a:spcPct val="125000"/>
              </a:lnSpc>
            </a:pPr>
            <a:r>
              <a:rPr sz="1050" b="0" i="0">
                <a:solidFill>
                  <a:srgbClr val="1B1411"/>
                </a:solidFill>
                <a:latin typeface="Arial"/>
              </a:rPr>
              <a:t>Official references labelled; Kaleva metadata only; no paywall bypass.</a:t>
            </a:r>
          </a:p>
        </p:txBody>
      </p:sp>
      <p:sp>
        <p:nvSpPr>
          <p:cNvPr id="20" name="TextBox 19"/>
          <p:cNvSpPr txBox="1"/>
          <p:nvPr/>
        </p:nvSpPr>
        <p:spPr>
          <a:xfrm>
            <a:off x="685800" y="5989320"/>
            <a:ext cx="10789920" cy="320040"/>
          </a:xfrm>
          <a:prstGeom prst="rect">
            <a:avLst/>
          </a:prstGeom>
          <a:noFill/>
        </p:spPr>
        <p:txBody>
          <a:bodyPr wrap="square" lIns="0" rIns="0" tIns="0" bIns="0" anchor="t">
            <a:spAutoFit/>
          </a:bodyPr>
          <a:lstStyle/>
          <a:p>
            <a:pPr algn="l">
              <a:lnSpc>
                <a:spcPct val="105000"/>
              </a:lnSpc>
            </a:pPr>
            <a:r>
              <a:rPr sz="1700" b="1" i="0">
                <a:solidFill>
                  <a:srgbClr val="1B1411"/>
                </a:solidFill>
                <a:latin typeface="Arial"/>
              </a:rPr>
              <a:t>Agents propose. Code validates. People decide.</a:t>
            </a:r>
          </a:p>
        </p:txBody>
      </p:sp>
      <p:sp>
        <p:nvSpPr>
          <p:cNvPr id="21" name="Rectangle 20"/>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trust</a:t>
            </a:r>
          </a:p>
        </p:txBody>
      </p:sp>
      <p:sp>
        <p:nvSpPr>
          <p:cNvPr id="23" name="TextBox 22"/>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411"/>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REACH</a:t>
            </a:r>
          </a:p>
        </p:txBody>
      </p:sp>
      <p:sp>
        <p:nvSpPr>
          <p:cNvPr id="3" name="TextBox 2"/>
          <p:cNvSpPr txBox="1"/>
          <p:nvPr/>
        </p:nvSpPr>
        <p:spPr>
          <a:xfrm>
            <a:off x="685800" y="841248"/>
            <a:ext cx="9875520" cy="731520"/>
          </a:xfrm>
          <a:prstGeom prst="rect">
            <a:avLst/>
          </a:prstGeom>
          <a:noFill/>
        </p:spPr>
        <p:txBody>
          <a:bodyPr wrap="square" lIns="0" rIns="0" tIns="0" bIns="0" anchor="t">
            <a:spAutoFit/>
          </a:bodyPr>
          <a:lstStyle/>
          <a:p>
            <a:pPr algn="l">
              <a:lnSpc>
                <a:spcPct val="105000"/>
              </a:lnSpc>
            </a:pPr>
            <a:r>
              <a:rPr sz="3800" b="1" i="0">
                <a:solidFill>
                  <a:srgbClr val="FAF5F0"/>
                </a:solidFill>
                <a:latin typeface="Arial"/>
              </a:rPr>
              <a:t>Seven languages, one edition each.</a:t>
            </a:r>
          </a:p>
        </p:txBody>
      </p:sp>
      <p:sp>
        <p:nvSpPr>
          <p:cNvPr id="4" name="Rectangle 3"/>
          <p:cNvSpPr/>
          <p:nvPr/>
        </p:nvSpPr>
        <p:spPr>
          <a:xfrm>
            <a:off x="685800" y="1828800"/>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38528"/>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English</a:t>
            </a:r>
          </a:p>
        </p:txBody>
      </p:sp>
      <p:sp>
        <p:nvSpPr>
          <p:cNvPr id="6" name="TextBox 5"/>
          <p:cNvSpPr txBox="1"/>
          <p:nvPr/>
        </p:nvSpPr>
        <p:spPr>
          <a:xfrm>
            <a:off x="4343400" y="1938528"/>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7" name="Rectangle 6"/>
          <p:cNvSpPr/>
          <p:nvPr/>
        </p:nvSpPr>
        <p:spPr>
          <a:xfrm>
            <a:off x="685800" y="2359152"/>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68880"/>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Suomi</a:t>
            </a:r>
          </a:p>
        </p:txBody>
      </p:sp>
      <p:sp>
        <p:nvSpPr>
          <p:cNvPr id="9" name="TextBox 8"/>
          <p:cNvSpPr txBox="1"/>
          <p:nvPr/>
        </p:nvSpPr>
        <p:spPr>
          <a:xfrm>
            <a:off x="4343400" y="2468880"/>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10" name="Rectangle 9"/>
          <p:cNvSpPr/>
          <p:nvPr/>
        </p:nvSpPr>
        <p:spPr>
          <a:xfrm>
            <a:off x="685800" y="2889504"/>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99232"/>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Svenska</a:t>
            </a:r>
          </a:p>
        </p:txBody>
      </p:sp>
      <p:sp>
        <p:nvSpPr>
          <p:cNvPr id="12" name="TextBox 11"/>
          <p:cNvSpPr txBox="1"/>
          <p:nvPr/>
        </p:nvSpPr>
        <p:spPr>
          <a:xfrm>
            <a:off x="4343400" y="2999232"/>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13" name="Rectangle 12"/>
          <p:cNvSpPr/>
          <p:nvPr/>
        </p:nvSpPr>
        <p:spPr>
          <a:xfrm>
            <a:off x="685800" y="3419856"/>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529584"/>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العربية</a:t>
            </a:r>
          </a:p>
        </p:txBody>
      </p:sp>
      <p:sp>
        <p:nvSpPr>
          <p:cNvPr id="15" name="TextBox 14"/>
          <p:cNvSpPr txBox="1"/>
          <p:nvPr/>
        </p:nvSpPr>
        <p:spPr>
          <a:xfrm>
            <a:off x="4343400" y="3529584"/>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16" name="Rectangle 15"/>
          <p:cNvSpPr/>
          <p:nvPr/>
        </p:nvSpPr>
        <p:spPr>
          <a:xfrm>
            <a:off x="685800" y="3950208"/>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059936"/>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Davvisámegiella</a:t>
            </a:r>
          </a:p>
        </p:txBody>
      </p:sp>
      <p:sp>
        <p:nvSpPr>
          <p:cNvPr id="18" name="TextBox 17"/>
          <p:cNvSpPr txBox="1"/>
          <p:nvPr/>
        </p:nvSpPr>
        <p:spPr>
          <a:xfrm>
            <a:off x="4343400" y="4059936"/>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19" name="Rectangle 18"/>
          <p:cNvSpPr/>
          <p:nvPr/>
        </p:nvSpPr>
        <p:spPr>
          <a:xfrm>
            <a:off x="685800" y="4480560"/>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590288"/>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Українська</a:t>
            </a:r>
          </a:p>
        </p:txBody>
      </p:sp>
      <p:sp>
        <p:nvSpPr>
          <p:cNvPr id="21" name="TextBox 20"/>
          <p:cNvSpPr txBox="1"/>
          <p:nvPr/>
        </p:nvSpPr>
        <p:spPr>
          <a:xfrm>
            <a:off x="4343400" y="4590288"/>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22" name="Rectangle 21"/>
          <p:cNvSpPr/>
          <p:nvPr/>
        </p:nvSpPr>
        <p:spPr>
          <a:xfrm>
            <a:off x="685800" y="5010912"/>
            <a:ext cx="5212080" cy="6400"/>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120640"/>
            <a:ext cx="3291840" cy="292608"/>
          </a:xfrm>
          <a:prstGeom prst="rect">
            <a:avLst/>
          </a:prstGeom>
          <a:noFill/>
        </p:spPr>
        <p:txBody>
          <a:bodyPr wrap="square" lIns="0" rIns="0" tIns="0" bIns="0" anchor="t">
            <a:spAutoFit/>
          </a:bodyPr>
          <a:lstStyle/>
          <a:p>
            <a:pPr algn="l">
              <a:lnSpc>
                <a:spcPct val="105000"/>
              </a:lnSpc>
            </a:pPr>
            <a:r>
              <a:rPr sz="1400" b="0" i="0">
                <a:solidFill>
                  <a:srgbClr val="FAF5F0"/>
                </a:solidFill>
                <a:latin typeface="Arial"/>
              </a:rPr>
              <a:t>Русский</a:t>
            </a:r>
          </a:p>
        </p:txBody>
      </p:sp>
      <p:sp>
        <p:nvSpPr>
          <p:cNvPr id="24" name="TextBox 23"/>
          <p:cNvSpPr txBox="1"/>
          <p:nvPr/>
        </p:nvSpPr>
        <p:spPr>
          <a:xfrm>
            <a:off x="4343400" y="5120640"/>
            <a:ext cx="1463040" cy="292608"/>
          </a:xfrm>
          <a:prstGeom prst="rect">
            <a:avLst/>
          </a:prstGeom>
          <a:noFill/>
        </p:spPr>
        <p:txBody>
          <a:bodyPr wrap="square" lIns="0" rIns="0" tIns="0" bIns="0" anchor="t">
            <a:spAutoFit/>
          </a:bodyPr>
          <a:lstStyle/>
          <a:p>
            <a:pPr algn="r">
              <a:lnSpc>
                <a:spcPct val="105000"/>
              </a:lnSpc>
            </a:pPr>
            <a:r>
              <a:rPr sz="1200" b="1" i="0">
                <a:solidFill>
                  <a:srgbClr val="33CC7A"/>
                </a:solidFill>
                <a:latin typeface="Arial"/>
              </a:rPr>
              <a:t>46</a:t>
            </a:r>
          </a:p>
        </p:txBody>
      </p:sp>
      <p:sp>
        <p:nvSpPr>
          <p:cNvPr id="25" name="TextBox 24"/>
          <p:cNvSpPr txBox="1"/>
          <p:nvPr/>
        </p:nvSpPr>
        <p:spPr>
          <a:xfrm>
            <a:off x="6400800" y="1920240"/>
            <a:ext cx="1645920" cy="685800"/>
          </a:xfrm>
          <a:prstGeom prst="rect">
            <a:avLst/>
          </a:prstGeom>
          <a:noFill/>
        </p:spPr>
        <p:txBody>
          <a:bodyPr wrap="square" lIns="0" rIns="0" tIns="0" bIns="0" anchor="t">
            <a:spAutoFit/>
          </a:bodyPr>
          <a:lstStyle/>
          <a:p>
            <a:pPr algn="l">
              <a:lnSpc>
                <a:spcPct val="90000"/>
              </a:lnSpc>
            </a:pPr>
            <a:r>
              <a:rPr sz="3600" b="1" i="0">
                <a:solidFill>
                  <a:srgbClr val="33CC7A"/>
                </a:solidFill>
                <a:latin typeface="Arial"/>
              </a:rPr>
              <a:t>46</a:t>
            </a:r>
          </a:p>
        </p:txBody>
      </p:sp>
      <p:sp>
        <p:nvSpPr>
          <p:cNvPr id="26" name="TextBox 25"/>
          <p:cNvSpPr txBox="1"/>
          <p:nvPr/>
        </p:nvSpPr>
        <p:spPr>
          <a:xfrm>
            <a:off x="6400800" y="263347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real stories</a:t>
            </a:r>
          </a:p>
        </p:txBody>
      </p:sp>
      <p:sp>
        <p:nvSpPr>
          <p:cNvPr id="27" name="TextBox 26"/>
          <p:cNvSpPr txBox="1"/>
          <p:nvPr/>
        </p:nvSpPr>
        <p:spPr>
          <a:xfrm>
            <a:off x="8275320" y="1920240"/>
            <a:ext cx="1645920" cy="685800"/>
          </a:xfrm>
          <a:prstGeom prst="rect">
            <a:avLst/>
          </a:prstGeom>
          <a:noFill/>
        </p:spPr>
        <p:txBody>
          <a:bodyPr wrap="square" lIns="0" rIns="0" tIns="0" bIns="0" anchor="t">
            <a:spAutoFit/>
          </a:bodyPr>
          <a:lstStyle/>
          <a:p>
            <a:pPr algn="l">
              <a:lnSpc>
                <a:spcPct val="90000"/>
              </a:lnSpc>
            </a:pPr>
            <a:r>
              <a:rPr sz="3600" b="1" i="0">
                <a:solidFill>
                  <a:srgbClr val="FAF5F0"/>
                </a:solidFill>
                <a:latin typeface="Arial"/>
              </a:rPr>
              <a:t>322</a:t>
            </a:r>
          </a:p>
        </p:txBody>
      </p:sp>
      <p:sp>
        <p:nvSpPr>
          <p:cNvPr id="28" name="TextBox 27"/>
          <p:cNvSpPr txBox="1"/>
          <p:nvPr/>
        </p:nvSpPr>
        <p:spPr>
          <a:xfrm>
            <a:off x="8275320" y="263347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editions</a:t>
            </a:r>
          </a:p>
        </p:txBody>
      </p:sp>
      <p:sp>
        <p:nvSpPr>
          <p:cNvPr id="29" name="TextBox 28"/>
          <p:cNvSpPr txBox="1"/>
          <p:nvPr/>
        </p:nvSpPr>
        <p:spPr>
          <a:xfrm>
            <a:off x="10149840" y="1920240"/>
            <a:ext cx="1645920" cy="685800"/>
          </a:xfrm>
          <a:prstGeom prst="rect">
            <a:avLst/>
          </a:prstGeom>
          <a:noFill/>
        </p:spPr>
        <p:txBody>
          <a:bodyPr wrap="square" lIns="0" rIns="0" tIns="0" bIns="0" anchor="t">
            <a:spAutoFit/>
          </a:bodyPr>
          <a:lstStyle/>
          <a:p>
            <a:pPr algn="l">
              <a:lnSpc>
                <a:spcPct val="90000"/>
              </a:lnSpc>
            </a:pPr>
            <a:r>
              <a:rPr sz="3600" b="1" i="0">
                <a:solidFill>
                  <a:srgbClr val="33CC7A"/>
                </a:solidFill>
                <a:latin typeface="Arial"/>
              </a:rPr>
              <a:t>45</a:t>
            </a:r>
          </a:p>
        </p:txBody>
      </p:sp>
      <p:sp>
        <p:nvSpPr>
          <p:cNvPr id="30" name="TextBox 29"/>
          <p:cNvSpPr txBox="1"/>
          <p:nvPr/>
        </p:nvSpPr>
        <p:spPr>
          <a:xfrm>
            <a:off x="10149840" y="263347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events</a:t>
            </a:r>
          </a:p>
        </p:txBody>
      </p:sp>
      <p:sp>
        <p:nvSpPr>
          <p:cNvPr id="31" name="TextBox 30"/>
          <p:cNvSpPr txBox="1"/>
          <p:nvPr/>
        </p:nvSpPr>
        <p:spPr>
          <a:xfrm>
            <a:off x="6400800" y="3429000"/>
            <a:ext cx="1645920" cy="685800"/>
          </a:xfrm>
          <a:prstGeom prst="rect">
            <a:avLst/>
          </a:prstGeom>
          <a:noFill/>
        </p:spPr>
        <p:txBody>
          <a:bodyPr wrap="square" lIns="0" rIns="0" tIns="0" bIns="0" anchor="t">
            <a:spAutoFit/>
          </a:bodyPr>
          <a:lstStyle/>
          <a:p>
            <a:pPr algn="l">
              <a:lnSpc>
                <a:spcPct val="90000"/>
              </a:lnSpc>
            </a:pPr>
            <a:r>
              <a:rPr sz="3600" b="1" i="0">
                <a:solidFill>
                  <a:srgbClr val="FAF5F0"/>
                </a:solidFill>
                <a:latin typeface="Arial"/>
              </a:rPr>
              <a:t>5</a:t>
            </a:r>
          </a:p>
        </p:txBody>
      </p:sp>
      <p:sp>
        <p:nvSpPr>
          <p:cNvPr id="32" name="TextBox 31"/>
          <p:cNvSpPr txBox="1"/>
          <p:nvPr/>
        </p:nvSpPr>
        <p:spPr>
          <a:xfrm>
            <a:off x="6400800" y="414223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Oulu sources</a:t>
            </a:r>
          </a:p>
        </p:txBody>
      </p:sp>
      <p:sp>
        <p:nvSpPr>
          <p:cNvPr id="33" name="TextBox 32"/>
          <p:cNvSpPr txBox="1"/>
          <p:nvPr/>
        </p:nvSpPr>
        <p:spPr>
          <a:xfrm>
            <a:off x="8275320" y="3429000"/>
            <a:ext cx="1645920" cy="685800"/>
          </a:xfrm>
          <a:prstGeom prst="rect">
            <a:avLst/>
          </a:prstGeom>
          <a:noFill/>
        </p:spPr>
        <p:txBody>
          <a:bodyPr wrap="square" lIns="0" rIns="0" tIns="0" bIns="0" anchor="t">
            <a:spAutoFit/>
          </a:bodyPr>
          <a:lstStyle/>
          <a:p>
            <a:pPr algn="l">
              <a:lnSpc>
                <a:spcPct val="90000"/>
              </a:lnSpc>
            </a:pPr>
            <a:r>
              <a:rPr sz="3600" b="1" i="0">
                <a:solidFill>
                  <a:srgbClr val="33CC7A"/>
                </a:solidFill>
                <a:latin typeface="Arial"/>
              </a:rPr>
              <a:t>22</a:t>
            </a:r>
          </a:p>
        </p:txBody>
      </p:sp>
      <p:sp>
        <p:nvSpPr>
          <p:cNvPr id="34" name="TextBox 33"/>
          <p:cNvSpPr txBox="1"/>
          <p:nvPr/>
        </p:nvSpPr>
        <p:spPr>
          <a:xfrm>
            <a:off x="8275320" y="414223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topics</a:t>
            </a:r>
          </a:p>
        </p:txBody>
      </p:sp>
      <p:sp>
        <p:nvSpPr>
          <p:cNvPr id="35" name="TextBox 34"/>
          <p:cNvSpPr txBox="1"/>
          <p:nvPr/>
        </p:nvSpPr>
        <p:spPr>
          <a:xfrm>
            <a:off x="10149840" y="3429000"/>
            <a:ext cx="1645920" cy="685800"/>
          </a:xfrm>
          <a:prstGeom prst="rect">
            <a:avLst/>
          </a:prstGeom>
          <a:noFill/>
        </p:spPr>
        <p:txBody>
          <a:bodyPr wrap="square" lIns="0" rIns="0" tIns="0" bIns="0" anchor="t">
            <a:spAutoFit/>
          </a:bodyPr>
          <a:lstStyle/>
          <a:p>
            <a:pPr algn="l">
              <a:lnSpc>
                <a:spcPct val="90000"/>
              </a:lnSpc>
            </a:pPr>
            <a:r>
              <a:rPr sz="3600" b="1" i="0">
                <a:solidFill>
                  <a:srgbClr val="FAF5F0"/>
                </a:solidFill>
                <a:latin typeface="Arial"/>
              </a:rPr>
              <a:t>10</a:t>
            </a:r>
          </a:p>
        </p:txBody>
      </p:sp>
      <p:sp>
        <p:nvSpPr>
          <p:cNvPr id="36" name="TextBox 35"/>
          <p:cNvSpPr txBox="1"/>
          <p:nvPr/>
        </p:nvSpPr>
        <p:spPr>
          <a:xfrm>
            <a:off x="10149840" y="4142232"/>
            <a:ext cx="1645920" cy="274320"/>
          </a:xfrm>
          <a:prstGeom prst="rect">
            <a:avLst/>
          </a:prstGeom>
          <a:noFill/>
        </p:spPr>
        <p:txBody>
          <a:bodyPr wrap="square" lIns="0" rIns="0" tIns="0" bIns="0" anchor="t">
            <a:spAutoFit/>
          </a:bodyPr>
          <a:lstStyle/>
          <a:p>
            <a:pPr algn="l">
              <a:lnSpc>
                <a:spcPct val="105000"/>
              </a:lnSpc>
            </a:pPr>
            <a:r>
              <a:rPr sz="900" b="1" i="0">
                <a:solidFill>
                  <a:srgbClr val="B8ABA3"/>
                </a:solidFill>
                <a:latin typeface="Arial"/>
              </a:rPr>
              <a:t>communities</a:t>
            </a:r>
          </a:p>
        </p:txBody>
      </p:sp>
      <p:sp>
        <p:nvSpPr>
          <p:cNvPr id="37" name="Rectangle 36"/>
          <p:cNvSpPr/>
          <p:nvPr/>
        </p:nvSpPr>
        <p:spPr>
          <a:xfrm>
            <a:off x="685800" y="5669280"/>
            <a:ext cx="10789920"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806440"/>
            <a:ext cx="10789920" cy="457200"/>
          </a:xfrm>
          <a:prstGeom prst="rect">
            <a:avLst/>
          </a:prstGeom>
          <a:noFill/>
        </p:spPr>
        <p:txBody>
          <a:bodyPr wrap="square" lIns="0" rIns="0" tIns="0" bIns="0" anchor="t">
            <a:spAutoFit/>
          </a:bodyPr>
          <a:lstStyle/>
          <a:p>
            <a:pPr algn="l">
              <a:lnSpc>
                <a:spcPct val="105000"/>
              </a:lnSpc>
            </a:pPr>
            <a:r>
              <a:rPr sz="1000" b="0" i="0">
                <a:solidFill>
                  <a:srgbClr val="FAF5F0"/>
                </a:solidFill>
                <a:latin typeface="Arial"/>
              </a:rPr>
              <a:t>Live data in the current databases: the last seven days of real Oulu reporting, each story in all seven editions.</a:t>
            </a:r>
          </a:p>
        </p:txBody>
      </p:sp>
      <p:sp>
        <p:nvSpPr>
          <p:cNvPr id="39" name="Rectangle 38"/>
          <p:cNvSpPr/>
          <p:nvPr/>
        </p:nvSpPr>
        <p:spPr>
          <a:xfrm>
            <a:off x="685800" y="6419088"/>
            <a:ext cx="10817352" cy="7315"/>
          </a:xfrm>
          <a:prstGeom prst="rect">
            <a:avLst/>
          </a:prstGeom>
          <a:solidFill>
            <a:srgbClr val="4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FAF5F0"/>
                </a:solidFill>
                <a:latin typeface="Arial"/>
              </a:rPr>
              <a:t>KalevaShorts  ·  reach</a:t>
            </a:r>
          </a:p>
        </p:txBody>
      </p:sp>
      <p:sp>
        <p:nvSpPr>
          <p:cNvPr id="41" name="TextBox 40"/>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FAF5F0"/>
                </a:solidFill>
                <a:latin typeface="Aria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F0"/>
        </a:solidFill>
        <a:effectLst/>
      </p:bgPr>
    </p:bg>
    <p:spTree>
      <p:nvGrpSpPr>
        <p:cNvPr id="1" name=""/>
        <p:cNvGrpSpPr/>
        <p:nvPr/>
      </p:nvGrpSpPr>
      <p:grpSpPr/>
      <p:sp>
        <p:nvSpPr>
          <p:cNvPr id="2" name="TextBox 1"/>
          <p:cNvSpPr txBox="1"/>
          <p:nvPr/>
        </p:nvSpPr>
        <p:spPr>
          <a:xfrm>
            <a:off x="685800" y="502920"/>
            <a:ext cx="3657600" cy="256032"/>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TODAY</a:t>
            </a:r>
          </a:p>
        </p:txBody>
      </p:sp>
      <p:sp>
        <p:nvSpPr>
          <p:cNvPr id="3" name="TextBox 2"/>
          <p:cNvSpPr txBox="1"/>
          <p:nvPr/>
        </p:nvSpPr>
        <p:spPr>
          <a:xfrm>
            <a:off x="685800" y="841248"/>
            <a:ext cx="9875520" cy="731520"/>
          </a:xfrm>
          <a:prstGeom prst="rect">
            <a:avLst/>
          </a:prstGeom>
          <a:noFill/>
        </p:spPr>
        <p:txBody>
          <a:bodyPr wrap="square" lIns="0" rIns="0" tIns="0" bIns="0" anchor="t">
            <a:spAutoFit/>
          </a:bodyPr>
          <a:lstStyle/>
          <a:p>
            <a:pPr algn="l">
              <a:lnSpc>
                <a:spcPct val="105000"/>
              </a:lnSpc>
            </a:pPr>
            <a:r>
              <a:rPr sz="4000" b="1" i="0">
                <a:solidFill>
                  <a:srgbClr val="1B1411"/>
                </a:solidFill>
                <a:latin typeface="Arial"/>
              </a:rPr>
              <a:t>The demo is the product.</a:t>
            </a:r>
          </a:p>
        </p:txBody>
      </p:sp>
      <p:sp>
        <p:nvSpPr>
          <p:cNvPr id="4" name="Rectangle 3"/>
          <p:cNvSpPr/>
          <p:nvPr/>
        </p:nvSpPr>
        <p:spPr>
          <a:xfrm>
            <a:off x="685800" y="1965960"/>
            <a:ext cx="3291840" cy="18288"/>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310896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READER</a:t>
            </a:r>
          </a:p>
        </p:txBody>
      </p:sp>
      <p:sp>
        <p:nvSpPr>
          <p:cNvPr id="6" name="TextBox 5"/>
          <p:cNvSpPr txBox="1"/>
          <p:nvPr/>
        </p:nvSpPr>
        <p:spPr>
          <a:xfrm>
            <a:off x="685800" y="2423160"/>
            <a:ext cx="3108960" cy="274320"/>
          </a:xfrm>
          <a:prstGeom prst="rect">
            <a:avLst/>
          </a:prstGeom>
          <a:noFill/>
        </p:spPr>
        <p:txBody>
          <a:bodyPr wrap="square" lIns="0" rIns="0" tIns="0" bIns="0" anchor="t">
            <a:spAutoFit/>
          </a:bodyPr>
          <a:lstStyle/>
          <a:p>
            <a:pPr algn="l">
              <a:lnSpc>
                <a:spcPct val="105000"/>
              </a:lnSpc>
            </a:pPr>
            <a:r>
              <a:rPr sz="1100" b="1" i="0">
                <a:solidFill>
                  <a:srgbClr val="1B1411"/>
                </a:solidFill>
                <a:latin typeface="Arial"/>
              </a:rPr>
              <a:t>/dashboard</a:t>
            </a:r>
          </a:p>
        </p:txBody>
      </p:sp>
      <p:sp>
        <p:nvSpPr>
          <p:cNvPr id="7" name="TextBox 6"/>
          <p:cNvSpPr txBox="1"/>
          <p:nvPr/>
        </p:nvSpPr>
        <p:spPr>
          <a:xfrm>
            <a:off x="685800" y="2880360"/>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For-you feed in the chosen language</a:t>
            </a:r>
          </a:p>
        </p:txBody>
      </p:sp>
      <p:sp>
        <p:nvSpPr>
          <p:cNvPr id="8" name="TextBox 7"/>
          <p:cNvSpPr txBox="1"/>
          <p:nvPr/>
        </p:nvSpPr>
        <p:spPr>
          <a:xfrm>
            <a:off x="685800" y="3538728"/>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Related stories with reasons</a:t>
            </a:r>
          </a:p>
        </p:txBody>
      </p:sp>
      <p:sp>
        <p:nvSpPr>
          <p:cNvPr id="9" name="TextBox 8"/>
          <p:cNvSpPr txBox="1"/>
          <p:nvPr/>
        </p:nvSpPr>
        <p:spPr>
          <a:xfrm>
            <a:off x="685800" y="4197096"/>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Save, history, follow sources</a:t>
            </a:r>
          </a:p>
        </p:txBody>
      </p:sp>
      <p:sp>
        <p:nvSpPr>
          <p:cNvPr id="10" name="Rectangle 9"/>
          <p:cNvSpPr/>
          <p:nvPr/>
        </p:nvSpPr>
        <p:spPr>
          <a:xfrm>
            <a:off x="4343400" y="1965960"/>
            <a:ext cx="3291840" cy="18288"/>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103120"/>
            <a:ext cx="310896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EDITOR</a:t>
            </a:r>
          </a:p>
        </p:txBody>
      </p:sp>
      <p:sp>
        <p:nvSpPr>
          <p:cNvPr id="12" name="TextBox 11"/>
          <p:cNvSpPr txBox="1"/>
          <p:nvPr/>
        </p:nvSpPr>
        <p:spPr>
          <a:xfrm>
            <a:off x="4343400" y="2423160"/>
            <a:ext cx="3108960" cy="274320"/>
          </a:xfrm>
          <a:prstGeom prst="rect">
            <a:avLst/>
          </a:prstGeom>
          <a:noFill/>
        </p:spPr>
        <p:txBody>
          <a:bodyPr wrap="square" lIns="0" rIns="0" tIns="0" bIns="0" anchor="t">
            <a:spAutoFit/>
          </a:bodyPr>
          <a:lstStyle/>
          <a:p>
            <a:pPr algn="l">
              <a:lnSpc>
                <a:spcPct val="105000"/>
              </a:lnSpc>
            </a:pPr>
            <a:r>
              <a:rPr sz="1100" b="1" i="0">
                <a:solidFill>
                  <a:srgbClr val="1B1411"/>
                </a:solidFill>
                <a:latin typeface="Arial"/>
              </a:rPr>
              <a:t>/editor</a:t>
            </a:r>
          </a:p>
        </p:txBody>
      </p:sp>
      <p:sp>
        <p:nvSpPr>
          <p:cNvPr id="13" name="TextBox 12"/>
          <p:cNvSpPr txBox="1"/>
          <p:nvPr/>
        </p:nvSpPr>
        <p:spPr>
          <a:xfrm>
            <a:off x="4343400" y="2880360"/>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Topic tree and source health</a:t>
            </a:r>
          </a:p>
        </p:txBody>
      </p:sp>
      <p:sp>
        <p:nvSpPr>
          <p:cNvPr id="14" name="TextBox 13"/>
          <p:cNvSpPr txBox="1"/>
          <p:nvPr/>
        </p:nvSpPr>
        <p:spPr>
          <a:xfrm>
            <a:off x="4343400" y="3538728"/>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Run a cycle; review queue</a:t>
            </a:r>
          </a:p>
        </p:txBody>
      </p:sp>
      <p:sp>
        <p:nvSpPr>
          <p:cNvPr id="15" name="TextBox 14"/>
          <p:cNvSpPr txBox="1"/>
          <p:nvPr/>
        </p:nvSpPr>
        <p:spPr>
          <a:xfrm>
            <a:off x="4343400" y="4197096"/>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Named approvals and corrections</a:t>
            </a:r>
          </a:p>
        </p:txBody>
      </p:sp>
      <p:sp>
        <p:nvSpPr>
          <p:cNvPr id="16" name="Rectangle 15"/>
          <p:cNvSpPr/>
          <p:nvPr/>
        </p:nvSpPr>
        <p:spPr>
          <a:xfrm>
            <a:off x="8001000" y="1965960"/>
            <a:ext cx="3291840" cy="18288"/>
          </a:xfrm>
          <a:prstGeom prst="rect">
            <a:avLst/>
          </a:prstGeom>
          <a:solidFill>
            <a:srgbClr val="1B14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2103120"/>
            <a:ext cx="3108960" cy="274320"/>
          </a:xfrm>
          <a:prstGeom prst="rect">
            <a:avLst/>
          </a:prstGeom>
          <a:noFill/>
        </p:spPr>
        <p:txBody>
          <a:bodyPr wrap="square" lIns="0" rIns="0" tIns="0" bIns="0" anchor="t">
            <a:spAutoFit/>
          </a:bodyPr>
          <a:lstStyle/>
          <a:p>
            <a:pPr algn="l">
              <a:lnSpc>
                <a:spcPct val="105000"/>
              </a:lnSpc>
            </a:pPr>
            <a:r>
              <a:rPr sz="900" b="1" i="0">
                <a:solidFill>
                  <a:srgbClr val="33CC7A"/>
                </a:solidFill>
                <a:latin typeface="Arial"/>
              </a:rPr>
              <a:t>COMMUNITY</a:t>
            </a:r>
          </a:p>
        </p:txBody>
      </p:sp>
      <p:sp>
        <p:nvSpPr>
          <p:cNvPr id="18" name="TextBox 17"/>
          <p:cNvSpPr txBox="1"/>
          <p:nvPr/>
        </p:nvSpPr>
        <p:spPr>
          <a:xfrm>
            <a:off x="8001000" y="2423160"/>
            <a:ext cx="3108960" cy="274320"/>
          </a:xfrm>
          <a:prstGeom prst="rect">
            <a:avLst/>
          </a:prstGeom>
          <a:noFill/>
        </p:spPr>
        <p:txBody>
          <a:bodyPr wrap="square" lIns="0" rIns="0" tIns="0" bIns="0" anchor="t">
            <a:spAutoFit/>
          </a:bodyPr>
          <a:lstStyle/>
          <a:p>
            <a:pPr algn="l">
              <a:lnSpc>
                <a:spcPct val="105000"/>
              </a:lnSpc>
            </a:pPr>
            <a:r>
              <a:rPr sz="1100" b="1" i="0">
                <a:solidFill>
                  <a:srgbClr val="1B1411"/>
                </a:solidFill>
                <a:latin typeface="Arial"/>
              </a:rPr>
              <a:t>/dashboard/community</a:t>
            </a:r>
          </a:p>
        </p:txBody>
      </p:sp>
      <p:sp>
        <p:nvSpPr>
          <p:cNvPr id="19" name="TextBox 18"/>
          <p:cNvSpPr txBox="1"/>
          <p:nvPr/>
        </p:nvSpPr>
        <p:spPr>
          <a:xfrm>
            <a:off x="8001000" y="2880360"/>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Follow communities and official sources</a:t>
            </a:r>
          </a:p>
        </p:txBody>
      </p:sp>
      <p:sp>
        <p:nvSpPr>
          <p:cNvPr id="20" name="TextBox 19"/>
          <p:cNvSpPr txBox="1"/>
          <p:nvPr/>
        </p:nvSpPr>
        <p:spPr>
          <a:xfrm>
            <a:off x="8001000" y="3538728"/>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Ask, tip, share local knowledge</a:t>
            </a:r>
          </a:p>
        </p:txBody>
      </p:sp>
      <p:sp>
        <p:nvSpPr>
          <p:cNvPr id="21" name="TextBox 20"/>
          <p:cNvSpPr txBox="1"/>
          <p:nvPr/>
        </p:nvSpPr>
        <p:spPr>
          <a:xfrm>
            <a:off x="8001000" y="4197096"/>
            <a:ext cx="3200400" cy="548640"/>
          </a:xfrm>
          <a:prstGeom prst="rect">
            <a:avLst/>
          </a:prstGeom>
          <a:noFill/>
        </p:spPr>
        <p:txBody>
          <a:bodyPr wrap="square" lIns="0" rIns="0" tIns="0" bIns="0" anchor="t">
            <a:spAutoFit/>
          </a:bodyPr>
          <a:lstStyle/>
          <a:p>
            <a:pPr algn="l">
              <a:lnSpc>
                <a:spcPct val="125000"/>
              </a:lnSpc>
            </a:pPr>
            <a:r>
              <a:rPr sz="1050" b="0" i="0">
                <a:solidFill>
                  <a:srgbClr val="66574F"/>
                </a:solidFill>
                <a:latin typeface="Arial"/>
              </a:rPr>
              <a:t>Trusted voices and moderation</a:t>
            </a:r>
          </a:p>
        </p:txBody>
      </p:sp>
      <p:sp>
        <p:nvSpPr>
          <p:cNvPr id="22" name="Rectangle 21"/>
          <p:cNvSpPr/>
          <p:nvPr/>
        </p:nvSpPr>
        <p:spPr>
          <a:xfrm>
            <a:off x="685800" y="5349240"/>
            <a:ext cx="10835640"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468112"/>
            <a:ext cx="5029200" cy="320040"/>
          </a:xfrm>
          <a:prstGeom prst="rect">
            <a:avLst/>
          </a:prstGeom>
          <a:noFill/>
        </p:spPr>
        <p:txBody>
          <a:bodyPr wrap="square" lIns="0" rIns="0" tIns="0" bIns="0" anchor="t">
            <a:spAutoFit/>
          </a:bodyPr>
          <a:lstStyle/>
          <a:p>
            <a:pPr algn="l">
              <a:lnSpc>
                <a:spcPct val="105000"/>
              </a:lnSpc>
            </a:pPr>
            <a:r>
              <a:rPr sz="1200" b="1" i="0">
                <a:solidFill>
                  <a:srgbClr val="1B1411"/>
                </a:solidFill>
                <a:latin typeface="Arial"/>
              </a:rPr>
              <a:t>46 real Oulu stories · 322 editions · 45 events</a:t>
            </a:r>
          </a:p>
        </p:txBody>
      </p:sp>
      <p:sp>
        <p:nvSpPr>
          <p:cNvPr id="24" name="TextBox 23"/>
          <p:cNvSpPr txBox="1"/>
          <p:nvPr/>
        </p:nvSpPr>
        <p:spPr>
          <a:xfrm>
            <a:off x="6583680" y="5468112"/>
            <a:ext cx="4937760" cy="320040"/>
          </a:xfrm>
          <a:prstGeom prst="rect">
            <a:avLst/>
          </a:prstGeom>
          <a:noFill/>
        </p:spPr>
        <p:txBody>
          <a:bodyPr wrap="square" lIns="0" rIns="0" tIns="0" bIns="0" anchor="t">
            <a:spAutoFit/>
          </a:bodyPr>
          <a:lstStyle/>
          <a:p>
            <a:pPr algn="r">
              <a:lnSpc>
                <a:spcPct val="105000"/>
              </a:lnSpc>
            </a:pPr>
            <a:r>
              <a:rPr sz="1100" b="0" i="0">
                <a:solidFill>
                  <a:srgbClr val="66574F"/>
                </a:solidFill>
                <a:latin typeface="Arial"/>
              </a:rPr>
              <a:t>last 7 days · every story in 7 languages</a:t>
            </a:r>
          </a:p>
        </p:txBody>
      </p:sp>
      <p:sp>
        <p:nvSpPr>
          <p:cNvPr id="25" name="TextBox 24"/>
          <p:cNvSpPr txBox="1"/>
          <p:nvPr/>
        </p:nvSpPr>
        <p:spPr>
          <a:xfrm>
            <a:off x="685800" y="5897880"/>
            <a:ext cx="10789920" cy="274320"/>
          </a:xfrm>
          <a:prstGeom prst="rect">
            <a:avLst/>
          </a:prstGeom>
          <a:noFill/>
        </p:spPr>
        <p:txBody>
          <a:bodyPr wrap="square" lIns="0" rIns="0" tIns="0" bIns="0" anchor="t">
            <a:spAutoFit/>
          </a:bodyPr>
          <a:lstStyle/>
          <a:p>
            <a:pPr algn="l">
              <a:lnSpc>
                <a:spcPct val="105000"/>
              </a:lnSpc>
            </a:pPr>
            <a:r>
              <a:rPr sz="1000" b="1" i="0">
                <a:solidFill>
                  <a:srgbClr val="33CC7A"/>
                </a:solidFill>
                <a:latin typeface="Arial"/>
              </a:rPr>
              <a:t>One platform, three systems, live data.</a:t>
            </a:r>
          </a:p>
        </p:txBody>
      </p:sp>
      <p:sp>
        <p:nvSpPr>
          <p:cNvPr id="26" name="Rectangle 25"/>
          <p:cNvSpPr/>
          <p:nvPr/>
        </p:nvSpPr>
        <p:spPr>
          <a:xfrm>
            <a:off x="685800" y="6419088"/>
            <a:ext cx="10817352" cy="7315"/>
          </a:xfrm>
          <a:prstGeom prst="rect">
            <a:avLst/>
          </a:prstGeom>
          <a:solidFill>
            <a:srgbClr val="D6CB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6492240"/>
            <a:ext cx="7315200" cy="201168"/>
          </a:xfrm>
          <a:prstGeom prst="rect">
            <a:avLst/>
          </a:prstGeom>
          <a:noFill/>
        </p:spPr>
        <p:txBody>
          <a:bodyPr wrap="square" lIns="0" rIns="0" tIns="0" bIns="0" anchor="t">
            <a:spAutoFit/>
          </a:bodyPr>
          <a:lstStyle/>
          <a:p>
            <a:pPr algn="l">
              <a:lnSpc>
                <a:spcPct val="105000"/>
              </a:lnSpc>
            </a:pPr>
            <a:r>
              <a:rPr sz="800" b="0" i="0">
                <a:solidFill>
                  <a:srgbClr val="66574F"/>
                </a:solidFill>
                <a:latin typeface="Arial"/>
              </a:rPr>
              <a:t>KalevaShorts  ·  what works</a:t>
            </a:r>
          </a:p>
        </p:txBody>
      </p:sp>
      <p:sp>
        <p:nvSpPr>
          <p:cNvPr id="28" name="TextBox 27"/>
          <p:cNvSpPr txBox="1"/>
          <p:nvPr/>
        </p:nvSpPr>
        <p:spPr>
          <a:xfrm>
            <a:off x="10424160" y="6492240"/>
            <a:ext cx="1078992" cy="201168"/>
          </a:xfrm>
          <a:prstGeom prst="rect">
            <a:avLst/>
          </a:prstGeom>
          <a:noFill/>
        </p:spPr>
        <p:txBody>
          <a:bodyPr wrap="square" lIns="0" rIns="0" tIns="0" bIns="0" anchor="t">
            <a:spAutoFit/>
          </a:bodyPr>
          <a:lstStyle/>
          <a:p>
            <a:pPr algn="r">
              <a:lnSpc>
                <a:spcPct val="105000"/>
              </a:lnSpc>
            </a:pPr>
            <a:r>
              <a:rPr sz="800" b="0" i="0">
                <a:solidFill>
                  <a:srgbClr val="66574F"/>
                </a:solidFill>
                <a:latin typeface="Aria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411"/>
        </a:solidFill>
        <a:effectLst/>
      </p:bgPr>
    </p:bg>
    <p:spTree>
      <p:nvGrpSpPr>
        <p:cNvPr id="1" name=""/>
        <p:cNvGrpSpPr/>
        <p:nvPr/>
      </p:nvGrpSpPr>
      <p:grpSpPr/>
      <p:sp>
        <p:nvSpPr>
          <p:cNvPr id="2" name="TextBox 1"/>
          <p:cNvSpPr txBox="1"/>
          <p:nvPr/>
        </p:nvSpPr>
        <p:spPr>
          <a:xfrm>
            <a:off x="685800" y="502920"/>
            <a:ext cx="256032" cy="256032"/>
          </a:xfrm>
          <a:prstGeom prst="rect">
            <a:avLst/>
          </a:prstGeom>
          <a:noFill/>
        </p:spPr>
        <p:txBody>
          <a:bodyPr wrap="square" lIns="0" rIns="0" tIns="0" bIns="0" anchor="t">
            <a:spAutoFit/>
          </a:bodyPr>
          <a:lstStyle/>
          <a:p>
            <a:pPr algn="l">
              <a:lnSpc>
                <a:spcPct val="105000"/>
              </a:lnSpc>
            </a:pPr>
            <a:r>
              <a:rPr sz="2000" b="0" i="0">
                <a:solidFill>
                  <a:srgbClr val="33CC7A"/>
                </a:solidFill>
                <a:latin typeface="Arial"/>
              </a:rPr>
              <a:t>●</a:t>
            </a:r>
          </a:p>
        </p:txBody>
      </p:sp>
      <p:sp>
        <p:nvSpPr>
          <p:cNvPr id="3" name="TextBox 2"/>
          <p:cNvSpPr txBox="1"/>
          <p:nvPr/>
        </p:nvSpPr>
        <p:spPr>
          <a:xfrm>
            <a:off x="960120" y="502920"/>
            <a:ext cx="4572000" cy="274320"/>
          </a:xfrm>
          <a:prstGeom prst="rect">
            <a:avLst/>
          </a:prstGeom>
          <a:noFill/>
        </p:spPr>
        <p:txBody>
          <a:bodyPr wrap="square" lIns="0" rIns="0" tIns="0" bIns="0" anchor="t">
            <a:spAutoFit/>
          </a:bodyPr>
          <a:lstStyle/>
          <a:p>
            <a:pPr algn="l">
              <a:lnSpc>
                <a:spcPct val="105000"/>
              </a:lnSpc>
            </a:pPr>
            <a:r>
              <a:rPr sz="1600" b="1" i="0">
                <a:solidFill>
                  <a:srgbClr val="FAF5F0"/>
                </a:solidFill>
                <a:latin typeface="Arial"/>
              </a:rPr>
              <a:t>KalevaShorts</a:t>
            </a:r>
          </a:p>
        </p:txBody>
      </p:sp>
      <p:sp>
        <p:nvSpPr>
          <p:cNvPr id="4" name="TextBox 3"/>
          <p:cNvSpPr txBox="1"/>
          <p:nvPr/>
        </p:nvSpPr>
        <p:spPr>
          <a:xfrm>
            <a:off x="685800" y="1463040"/>
            <a:ext cx="10515600" cy="1645920"/>
          </a:xfrm>
          <a:prstGeom prst="rect">
            <a:avLst/>
          </a:prstGeom>
          <a:noFill/>
        </p:spPr>
        <p:txBody>
          <a:bodyPr wrap="square" lIns="0" rIns="0" tIns="0" bIns="0" anchor="t">
            <a:spAutoFit/>
          </a:bodyPr>
          <a:lstStyle/>
          <a:p>
            <a:pPr algn="l">
              <a:lnSpc>
                <a:spcPct val="98000"/>
              </a:lnSpc>
            </a:pPr>
            <a:r>
              <a:rPr sz="5600" b="1" i="0">
                <a:solidFill>
                  <a:srgbClr val="FAF5F0"/>
                </a:solidFill>
                <a:latin typeface="Arial"/>
              </a:rPr>
              <a:t>Local news that
reaches everyone.</a:t>
            </a:r>
          </a:p>
        </p:txBody>
      </p:sp>
      <p:sp>
        <p:nvSpPr>
          <p:cNvPr id="5" name="TextBox 4"/>
          <p:cNvSpPr txBox="1"/>
          <p:nvPr/>
        </p:nvSpPr>
        <p:spPr>
          <a:xfrm>
            <a:off x="685800" y="3520440"/>
            <a:ext cx="6949440" cy="914400"/>
          </a:xfrm>
          <a:prstGeom prst="rect">
            <a:avLst/>
          </a:prstGeom>
          <a:noFill/>
        </p:spPr>
        <p:txBody>
          <a:bodyPr wrap="square" lIns="0" rIns="0" tIns="0" bIns="0" anchor="t">
            <a:spAutoFit/>
          </a:bodyPr>
          <a:lstStyle/>
          <a:p>
            <a:pPr algn="l">
              <a:lnSpc>
                <a:spcPct val="135000"/>
              </a:lnSpc>
            </a:pPr>
            <a:r>
              <a:rPr sz="1600" b="0" i="0">
                <a:solidFill>
                  <a:srgbClr val="D8CEC6"/>
                </a:solidFill>
                <a:latin typeface="Arial"/>
              </a:rPr>
              <a:t>Ask us for a demo. Bring a story in any of the seven languages.</a:t>
            </a:r>
          </a:p>
        </p:txBody>
      </p:sp>
      <p:sp>
        <p:nvSpPr>
          <p:cNvPr id="6" name="Rectangle 5"/>
          <p:cNvSpPr/>
          <p:nvPr/>
        </p:nvSpPr>
        <p:spPr>
          <a:xfrm>
            <a:off x="685800" y="4800600"/>
            <a:ext cx="4754880" cy="18288"/>
          </a:xfrm>
          <a:prstGeom prst="rect">
            <a:avLst/>
          </a:prstGeom>
          <a:solidFill>
            <a:srgbClr val="33C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956048"/>
            <a:ext cx="6766560" cy="320040"/>
          </a:xfrm>
          <a:prstGeom prst="rect">
            <a:avLst/>
          </a:prstGeom>
          <a:noFill/>
        </p:spPr>
        <p:txBody>
          <a:bodyPr wrap="square" lIns="0" rIns="0" tIns="0" bIns="0" anchor="t">
            <a:spAutoFit/>
          </a:bodyPr>
          <a:lstStyle/>
          <a:p>
            <a:pPr algn="l">
              <a:lnSpc>
                <a:spcPct val="105000"/>
              </a:lnSpc>
            </a:pPr>
            <a:r>
              <a:rPr sz="950" b="1" i="0">
                <a:solidFill>
                  <a:srgbClr val="33CC7A"/>
                </a:solidFill>
                <a:latin typeface="Arial"/>
              </a:rPr>
              <a:t>FRONTEND   /   BACKEND   /   AGENTIC NEWSROOM</a:t>
            </a:r>
          </a:p>
        </p:txBody>
      </p:sp>
      <p:sp>
        <p:nvSpPr>
          <p:cNvPr id="8" name="TextBox 7"/>
          <p:cNvSpPr txBox="1"/>
          <p:nvPr/>
        </p:nvSpPr>
        <p:spPr>
          <a:xfrm>
            <a:off x="685800" y="5349240"/>
            <a:ext cx="7772400" cy="320040"/>
          </a:xfrm>
          <a:prstGeom prst="rect">
            <a:avLst/>
          </a:prstGeom>
          <a:noFill/>
        </p:spPr>
        <p:txBody>
          <a:bodyPr wrap="square" lIns="0" rIns="0" tIns="0" bIns="0" anchor="t">
            <a:spAutoFit/>
          </a:bodyPr>
          <a:lstStyle/>
          <a:p>
            <a:pPr algn="l">
              <a:lnSpc>
                <a:spcPct val="105000"/>
              </a:lnSpc>
            </a:pPr>
            <a:r>
              <a:rPr sz="1000" b="0" i="0">
                <a:solidFill>
                  <a:srgbClr val="B8ABA3"/>
                </a:solidFill>
                <a:latin typeface="Arial"/>
              </a:rPr>
              <a:t>Next.js 16  ·  FastAPI  ·  LangGraph  ·  Gemini  ·  MongoDB</a:t>
            </a:r>
          </a:p>
        </p:txBody>
      </p:sp>
      <p:sp>
        <p:nvSpPr>
          <p:cNvPr id="9" name="TextBox 8"/>
          <p:cNvSpPr txBox="1"/>
          <p:nvPr/>
        </p:nvSpPr>
        <p:spPr>
          <a:xfrm>
            <a:off x="8961120" y="4956048"/>
            <a:ext cx="2560320" cy="320040"/>
          </a:xfrm>
          <a:prstGeom prst="rect">
            <a:avLst/>
          </a:prstGeom>
          <a:noFill/>
        </p:spPr>
        <p:txBody>
          <a:bodyPr wrap="square" lIns="0" rIns="0" tIns="0" bIns="0" anchor="t">
            <a:spAutoFit/>
          </a:bodyPr>
          <a:lstStyle/>
          <a:p>
            <a:pPr algn="r">
              <a:lnSpc>
                <a:spcPct val="105000"/>
              </a:lnSpc>
            </a:pPr>
            <a:r>
              <a:rPr sz="950" b="1" i="0">
                <a:solidFill>
                  <a:srgbClr val="FAF5F0"/>
                </a:solidFill>
                <a:latin typeface="Arial"/>
              </a:rPr>
              <a:t>Kaleva Media Hackathon</a:t>
            </a:r>
          </a:p>
        </p:txBody>
      </p:sp>
      <p:sp>
        <p:nvSpPr>
          <p:cNvPr id="10" name="TextBox 9"/>
          <p:cNvSpPr txBox="1"/>
          <p:nvPr/>
        </p:nvSpPr>
        <p:spPr>
          <a:xfrm>
            <a:off x="8961120" y="5285232"/>
            <a:ext cx="2560320" cy="320040"/>
          </a:xfrm>
          <a:prstGeom prst="rect">
            <a:avLst/>
          </a:prstGeom>
          <a:noFill/>
        </p:spPr>
        <p:txBody>
          <a:bodyPr wrap="square" lIns="0" rIns="0" tIns="0" bIns="0" anchor="t">
            <a:spAutoFit/>
          </a:bodyPr>
          <a:lstStyle/>
          <a:p>
            <a:pPr algn="r">
              <a:lnSpc>
                <a:spcPct val="105000"/>
              </a:lnSpc>
            </a:pPr>
            <a:r>
              <a:rPr sz="1000" b="0" i="0">
                <a:solidFill>
                  <a:srgbClr val="B8ABA3"/>
                </a:solidFill>
                <a:latin typeface="Arial"/>
              </a:rPr>
              <a:t>Oulu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